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bookmarkIdSeed="3">
  <p:sldMasterIdLst>
    <p:sldMasterId id="2147483660" r:id="rId4"/>
  </p:sldMasterIdLst>
  <p:notesMasterIdLst>
    <p:notesMasterId r:id="rId15"/>
  </p:notesMasterIdLst>
  <p:sldIdLst>
    <p:sldId id="256" r:id="rId5"/>
    <p:sldId id="278" r:id="rId6"/>
    <p:sldId id="279" r:id="rId7"/>
    <p:sldId id="281" r:id="rId8"/>
    <p:sldId id="280" r:id="rId9"/>
    <p:sldId id="282" r:id="rId10"/>
    <p:sldId id="283" r:id="rId11"/>
    <p:sldId id="284" r:id="rId12"/>
    <p:sldId id="285" r:id="rId13"/>
    <p:sldId id="271" r:id="rId14"/>
  </p:sldIdLst>
  <p:sldSz cx="12192000" cy="6858000"/>
  <p:notesSz cx="6858000" cy="9144000"/>
  <p:defaultTextStyle>
    <a:defPPr>
      <a:defRPr lang="en-US"/>
    </a:defPPr>
    <a:lvl1pPr algn="ctr" rtl="0" eaLnBrk="0" fontAlgn="base" hangingPunct="0">
      <a:spcBef>
        <a:spcPct val="0"/>
      </a:spcBef>
      <a:spcAft>
        <a:spcPct val="0"/>
      </a:spcAft>
      <a:defRPr sz="2400" kern="1200">
        <a:solidFill>
          <a:srgbClr val="FFFF00"/>
        </a:solidFill>
        <a:latin typeface="Arial" charset="0"/>
        <a:ea typeface="+mn-ea"/>
        <a:cs typeface="+mn-cs"/>
      </a:defRPr>
    </a:lvl1pPr>
    <a:lvl2pPr marL="457200" algn="ctr" rtl="0" eaLnBrk="0" fontAlgn="base" hangingPunct="0">
      <a:spcBef>
        <a:spcPct val="0"/>
      </a:spcBef>
      <a:spcAft>
        <a:spcPct val="0"/>
      </a:spcAft>
      <a:defRPr sz="2400" kern="1200">
        <a:solidFill>
          <a:srgbClr val="FFFF00"/>
        </a:solidFill>
        <a:latin typeface="Arial" charset="0"/>
        <a:ea typeface="+mn-ea"/>
        <a:cs typeface="+mn-cs"/>
      </a:defRPr>
    </a:lvl2pPr>
    <a:lvl3pPr marL="914400" algn="ctr" rtl="0" eaLnBrk="0" fontAlgn="base" hangingPunct="0">
      <a:spcBef>
        <a:spcPct val="0"/>
      </a:spcBef>
      <a:spcAft>
        <a:spcPct val="0"/>
      </a:spcAft>
      <a:defRPr sz="2400" kern="1200">
        <a:solidFill>
          <a:srgbClr val="FFFF00"/>
        </a:solidFill>
        <a:latin typeface="Arial" charset="0"/>
        <a:ea typeface="+mn-ea"/>
        <a:cs typeface="+mn-cs"/>
      </a:defRPr>
    </a:lvl3pPr>
    <a:lvl4pPr marL="1371600" algn="ctr" rtl="0" eaLnBrk="0" fontAlgn="base" hangingPunct="0">
      <a:spcBef>
        <a:spcPct val="0"/>
      </a:spcBef>
      <a:spcAft>
        <a:spcPct val="0"/>
      </a:spcAft>
      <a:defRPr sz="2400" kern="1200">
        <a:solidFill>
          <a:srgbClr val="FFFF00"/>
        </a:solidFill>
        <a:latin typeface="Arial" charset="0"/>
        <a:ea typeface="+mn-ea"/>
        <a:cs typeface="+mn-cs"/>
      </a:defRPr>
    </a:lvl4pPr>
    <a:lvl5pPr marL="1828800" algn="ctr" rtl="0" eaLnBrk="0" fontAlgn="base" hangingPunct="0">
      <a:spcBef>
        <a:spcPct val="0"/>
      </a:spcBef>
      <a:spcAft>
        <a:spcPct val="0"/>
      </a:spcAft>
      <a:defRPr sz="2400" kern="1200">
        <a:solidFill>
          <a:srgbClr val="FFFF00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rgbClr val="FFFF00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rgbClr val="FFFF00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rgbClr val="FFFF00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rgbClr val="FFFF00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D125067-A68B-2843-2282-1249CDE45B97}" name="Bradshaw, Craig" initials="CB" userId="S::craig.bradshaw@okstate.edu::fb9dac05-a5c3-4e66-8c3a-1a8d41e4f6f7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radshaw, Craig" initials="BC" lastIdx="2" clrIdx="0">
    <p:extLst>
      <p:ext uri="{19B8F6BF-5375-455C-9EA6-DF929625EA0E}">
        <p15:presenceInfo xmlns:p15="http://schemas.microsoft.com/office/powerpoint/2012/main" userId="S::craig.bradshaw@okstate.edu::fb9dac05-a5c3-4e66-8c3a-1a8d41e4f6f7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EBEBE"/>
    <a:srgbClr val="F27D00"/>
    <a:srgbClr val="D95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C8E60A5-D6C2-4332-AED3-5721BD8C94D4}" v="3" dt="2025-03-11T21:50:38.65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34"/>
    <p:restoredTop sz="94756"/>
  </p:normalViewPr>
  <p:slideViewPr>
    <p:cSldViewPr snapToGrid="0">
      <p:cViewPr varScale="1">
        <p:scale>
          <a:sx n="114" d="100"/>
          <a:sy n="114" d="100"/>
        </p:scale>
        <p:origin x="6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6/11/relationships/changesInfo" Target="changesInfos/changesInfo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23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linedinst, Sydney Nicole" userId="26ae4a5b-6468-48fe-9ba8-972c5268acbc" providerId="ADAL" clId="{55009EC1-C601-4FFD-9F4E-B459B22EB0B9}"/>
    <pc:docChg chg="modSld">
      <pc:chgData name="Klinedinst, Sydney Nicole" userId="26ae4a5b-6468-48fe-9ba8-972c5268acbc" providerId="ADAL" clId="{55009EC1-C601-4FFD-9F4E-B459B22EB0B9}" dt="2024-09-24T16:41:10.457" v="46" actId="20577"/>
      <pc:docMkLst>
        <pc:docMk/>
      </pc:docMkLst>
      <pc:sldChg chg="modSp mod">
        <pc:chgData name="Klinedinst, Sydney Nicole" userId="26ae4a5b-6468-48fe-9ba8-972c5268acbc" providerId="ADAL" clId="{55009EC1-C601-4FFD-9F4E-B459B22EB0B9}" dt="2024-09-24T16:41:10.457" v="46" actId="20577"/>
        <pc:sldMkLst>
          <pc:docMk/>
          <pc:sldMk cId="2651915716" sldId="268"/>
        </pc:sldMkLst>
        <pc:spChg chg="mod">
          <ac:chgData name="Klinedinst, Sydney Nicole" userId="26ae4a5b-6468-48fe-9ba8-972c5268acbc" providerId="ADAL" clId="{55009EC1-C601-4FFD-9F4E-B459B22EB0B9}" dt="2024-09-24T16:41:10.457" v="46" actId="20577"/>
          <ac:spMkLst>
            <pc:docMk/>
            <pc:sldMk cId="2651915716" sldId="268"/>
            <ac:spMk id="2" creationId="{E2656725-D9CD-4776-8E51-0E334B95C639}"/>
          </ac:spMkLst>
        </pc:spChg>
        <pc:graphicFrameChg chg="modGraphic">
          <ac:chgData name="Klinedinst, Sydney Nicole" userId="26ae4a5b-6468-48fe-9ba8-972c5268acbc" providerId="ADAL" clId="{55009EC1-C601-4FFD-9F4E-B459B22EB0B9}" dt="2024-09-24T16:40:59.988" v="45" actId="20577"/>
          <ac:graphicFrameMkLst>
            <pc:docMk/>
            <pc:sldMk cId="2651915716" sldId="268"/>
            <ac:graphicFrameMk id="9" creationId="{C184801D-0E04-4FAC-A045-02AEF3DC5413}"/>
          </ac:graphicFrameMkLst>
        </pc:graphicFrameChg>
      </pc:sldChg>
    </pc:docChg>
  </pc:docChgLst>
  <pc:docChgLst>
    <pc:chgData name="Khan, Muhammad Hasanat" userId="S::hasanat.khan@okstate.edu::df24e4c8-6072-4890-8e02-c7486c76678a" providerId="AD" clId="Web-{DC8E60A5-D6C2-4332-AED3-5721BD8C94D4}"/>
    <pc:docChg chg="modSld sldOrd">
      <pc:chgData name="Khan, Muhammad Hasanat" userId="S::hasanat.khan@okstate.edu::df24e4c8-6072-4890-8e02-c7486c76678a" providerId="AD" clId="Web-{DC8E60A5-D6C2-4332-AED3-5721BD8C94D4}" dt="2025-03-11T21:50:38.655" v="2"/>
      <pc:docMkLst>
        <pc:docMk/>
      </pc:docMkLst>
      <pc:sldChg chg="ord">
        <pc:chgData name="Khan, Muhammad Hasanat" userId="S::hasanat.khan@okstate.edu::df24e4c8-6072-4890-8e02-c7486c76678a" providerId="AD" clId="Web-{DC8E60A5-D6C2-4332-AED3-5721BD8C94D4}" dt="2025-03-11T21:50:38.655" v="2"/>
        <pc:sldMkLst>
          <pc:docMk/>
          <pc:sldMk cId="939193742" sldId="271"/>
        </pc:sldMkLst>
      </pc:sldChg>
      <pc:sldChg chg="modSp">
        <pc:chgData name="Khan, Muhammad Hasanat" userId="S::hasanat.khan@okstate.edu::df24e4c8-6072-4890-8e02-c7486c76678a" providerId="AD" clId="Web-{DC8E60A5-D6C2-4332-AED3-5721BD8C94D4}" dt="2025-03-11T16:02:51.147" v="0" actId="1076"/>
        <pc:sldMkLst>
          <pc:docMk/>
          <pc:sldMk cId="1217633629" sldId="277"/>
        </pc:sldMkLst>
        <pc:spChg chg="mod">
          <ac:chgData name="Khan, Muhammad Hasanat" userId="S::hasanat.khan@okstate.edu::df24e4c8-6072-4890-8e02-c7486c76678a" providerId="AD" clId="Web-{DC8E60A5-D6C2-4332-AED3-5721BD8C94D4}" dt="2025-03-11T16:02:51.147" v="0" actId="1076"/>
          <ac:spMkLst>
            <pc:docMk/>
            <pc:sldMk cId="1217633629" sldId="277"/>
            <ac:spMk id="4" creationId="{2050A74F-89D8-4D04-9F66-D858B01943D9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E37600-3FF5-47C7-8BA0-9F7A28028452}" type="datetimeFigureOut">
              <a:rPr lang="en-US" smtClean="0"/>
              <a:t>4/25/26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F73D833-256C-457D-AF3F-8B6151CA8F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38383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635129"/>
            <a:ext cx="10363200" cy="1117596"/>
          </a:xfrm>
        </p:spPr>
        <p:txBody>
          <a:bodyPr anchor="ctr"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2886075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7A2E5B2-5BA5-44BF-9E51-5C580D47A77E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53383" y="1592822"/>
            <a:ext cx="11893100" cy="0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rgbClr val="BEBEBE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  <p:pic>
        <p:nvPicPr>
          <p:cNvPr id="7" name="Picture 6" descr="A close up of a sign&#10;&#10;Description automatically generated">
            <a:extLst>
              <a:ext uri="{FF2B5EF4-FFF2-40B4-BE49-F238E27FC236}">
                <a16:creationId xmlns:a16="http://schemas.microsoft.com/office/drawing/2014/main" id="{2A7111AC-8BF5-467A-A1D3-11410D07D0D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83" y="216750"/>
            <a:ext cx="7712608" cy="1120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49701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11582400" cy="6858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1143000"/>
            <a:ext cx="11582400" cy="4953000"/>
          </a:xfrm>
        </p:spPr>
        <p:txBody>
          <a:bodyPr/>
          <a:lstStyle>
            <a:lvl1pPr>
              <a:buSzPct val="75000"/>
              <a:defRPr/>
            </a:lvl1pPr>
            <a:lvl4pPr>
              <a:buSzPct val="75000"/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B293E45-6DDD-4643-BFE5-DC9E7639859E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53383" y="991092"/>
            <a:ext cx="11893100" cy="0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  <p:sp>
        <p:nvSpPr>
          <p:cNvPr id="14" name="Slide Number Placeholder 7">
            <a:extLst>
              <a:ext uri="{FF2B5EF4-FFF2-40B4-BE49-F238E27FC236}">
                <a16:creationId xmlns:a16="http://schemas.microsoft.com/office/drawing/2014/main" id="{4747947B-31C9-4166-AD4F-3F289120211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737600" y="6356353"/>
            <a:ext cx="2844800" cy="365125"/>
          </a:xfrm>
        </p:spPr>
        <p:txBody>
          <a:bodyPr/>
          <a:lstStyle>
            <a:lvl1pPr>
              <a:defRPr/>
            </a:lvl1pPr>
          </a:lstStyle>
          <a:p>
            <a:fld id="{E0E5BCCF-FA65-4A39-A08E-3A00476076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2587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_footer_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11582400" cy="6858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1143000"/>
            <a:ext cx="11582400" cy="4953000"/>
          </a:xfrm>
        </p:spPr>
        <p:txBody>
          <a:bodyPr/>
          <a:lstStyle>
            <a:lvl1pPr>
              <a:buSzPct val="75000"/>
              <a:defRPr/>
            </a:lvl1pPr>
            <a:lvl4pPr>
              <a:buSzPct val="75000"/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435507" y="6356353"/>
            <a:ext cx="2844800" cy="365125"/>
          </a:xfrm>
        </p:spPr>
        <p:txBody>
          <a:bodyPr/>
          <a:lstStyle>
            <a:lvl1pPr>
              <a:defRPr/>
            </a:lvl1pPr>
          </a:lstStyle>
          <a:p>
            <a:fld id="{46414D09-7245-48AC-9094-436365B95C54}" type="datetime1">
              <a:rPr lang="en-US" smtClean="0"/>
              <a:t>4/25/26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10105594" y="6356353"/>
            <a:ext cx="1476805" cy="365125"/>
          </a:xfrm>
        </p:spPr>
        <p:txBody>
          <a:bodyPr/>
          <a:lstStyle>
            <a:lvl1pPr>
              <a:defRPr/>
            </a:lvl1pPr>
          </a:lstStyle>
          <a:p>
            <a:fld id="{E0E5BCCF-FA65-4A39-A08E-3A00476076F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2"/>
          </p:nvPr>
        </p:nvSpPr>
        <p:spPr>
          <a:xfrm>
            <a:off x="4560853" y="6356353"/>
            <a:ext cx="5296969" cy="365125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CIBS 2X-XX QX Update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B293E45-6DDD-4643-BFE5-DC9E7639859E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53383" y="991092"/>
            <a:ext cx="11893100" cy="0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1C05133-A539-4461-AE69-9B8685F129CB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374550" y="6240535"/>
            <a:ext cx="10671933" cy="0"/>
          </a:xfrm>
          <a:prstGeom prst="line">
            <a:avLst/>
          </a:prstGeom>
          <a:solidFill>
            <a:schemeClr val="accent1"/>
          </a:solidFill>
          <a:ln w="1905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  <p:pic>
        <p:nvPicPr>
          <p:cNvPr id="12" name="Picture 11" descr="A close up of a sign&#10;&#10;Description automatically generated">
            <a:extLst>
              <a:ext uri="{FF2B5EF4-FFF2-40B4-BE49-F238E27FC236}">
                <a16:creationId xmlns:a16="http://schemas.microsoft.com/office/drawing/2014/main" id="{1DD51376-0489-4516-A48F-644C4090EC5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517" y="5626104"/>
            <a:ext cx="1118994" cy="1095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1374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_footer_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11582400" cy="6858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1143000"/>
            <a:ext cx="11582400" cy="4953000"/>
          </a:xfrm>
        </p:spPr>
        <p:txBody>
          <a:bodyPr/>
          <a:lstStyle>
            <a:lvl1pPr>
              <a:buSzPct val="75000"/>
              <a:defRPr/>
            </a:lvl1pPr>
            <a:lvl4pPr>
              <a:buSzPct val="75000"/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10105594" y="6356353"/>
            <a:ext cx="1476805" cy="365125"/>
          </a:xfrm>
        </p:spPr>
        <p:txBody>
          <a:bodyPr/>
          <a:lstStyle>
            <a:lvl1pPr>
              <a:defRPr/>
            </a:lvl1pPr>
          </a:lstStyle>
          <a:p>
            <a:fld id="{E0E5BCCF-FA65-4A39-A08E-3A00476076F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2"/>
          </p:nvPr>
        </p:nvSpPr>
        <p:spPr>
          <a:xfrm>
            <a:off x="4560853" y="6356353"/>
            <a:ext cx="5296969" cy="365125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CIBS 2X-XX QX Update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B293E45-6DDD-4643-BFE5-DC9E7639859E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53383" y="991092"/>
            <a:ext cx="11893100" cy="0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1C05133-A539-4461-AE69-9B8685F129CB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2038350" y="6226938"/>
            <a:ext cx="10008133" cy="13597"/>
          </a:xfrm>
          <a:prstGeom prst="line">
            <a:avLst/>
          </a:prstGeom>
          <a:solidFill>
            <a:schemeClr val="accent1"/>
          </a:solidFill>
          <a:ln w="1905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  <p:pic>
        <p:nvPicPr>
          <p:cNvPr id="10" name="Content Placeholder 5">
            <a:extLst>
              <a:ext uri="{FF2B5EF4-FFF2-40B4-BE49-F238E27FC236}">
                <a16:creationId xmlns:a16="http://schemas.microsoft.com/office/drawing/2014/main" id="{D53E5FC8-740D-4BC6-AB1E-1385ADAEE0A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45517" y="6211060"/>
            <a:ext cx="1724025" cy="4897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8DF9F989-1A5C-4FAD-9888-C381C35CFB2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038349" y="6356353"/>
            <a:ext cx="2241957" cy="365125"/>
          </a:xfrm>
        </p:spPr>
        <p:txBody>
          <a:bodyPr/>
          <a:lstStyle>
            <a:lvl1pPr>
              <a:defRPr/>
            </a:lvl1pPr>
          </a:lstStyle>
          <a:p>
            <a:fld id="{EE819041-2AF7-4776-B4E6-11CB3E5FFACA}" type="datetime1">
              <a:rPr lang="en-US" smtClean="0"/>
              <a:t>4/25/26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4530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/>
          <p:cNvSpPr>
            <a:spLocks noGrp="1"/>
          </p:cNvSpPr>
          <p:nvPr>
            <p:ph idx="1"/>
          </p:nvPr>
        </p:nvSpPr>
        <p:spPr>
          <a:xfrm>
            <a:off x="304800" y="1143000"/>
            <a:ext cx="11582400" cy="4953000"/>
          </a:xfrm>
        </p:spPr>
        <p:txBody>
          <a:bodyPr/>
          <a:lstStyle>
            <a:lvl1pPr>
              <a:buSzPct val="75000"/>
              <a:defRPr/>
            </a:lvl1pPr>
            <a:lvl4pPr>
              <a:buSzPct val="75000"/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806726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143002"/>
            <a:ext cx="5689600" cy="5029201"/>
          </a:xfrm>
        </p:spPr>
        <p:txBody>
          <a:bodyPr/>
          <a:lstStyle>
            <a:lvl1pPr>
              <a:defRPr sz="2400"/>
            </a:lvl1pPr>
            <a:lvl2pPr>
              <a:defRPr sz="22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143002"/>
            <a:ext cx="5689600" cy="5029201"/>
          </a:xfrm>
        </p:spPr>
        <p:txBody>
          <a:bodyPr/>
          <a:lstStyle>
            <a:lvl1pPr>
              <a:defRPr sz="2400"/>
            </a:lvl1pPr>
            <a:lvl2pPr>
              <a:defRPr sz="22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11582400" cy="6858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C79AAAD-7661-4DEE-A2A8-9D89519D8782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53383" y="991092"/>
            <a:ext cx="11893100" cy="0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  <p:sp>
        <p:nvSpPr>
          <p:cNvPr id="11" name="Slide Number Placeholder 7">
            <a:extLst>
              <a:ext uri="{FF2B5EF4-FFF2-40B4-BE49-F238E27FC236}">
                <a16:creationId xmlns:a16="http://schemas.microsoft.com/office/drawing/2014/main" id="{092A72F3-2A41-4DC8-ADA1-1E437B935E0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737600" y="6356353"/>
            <a:ext cx="2844800" cy="365125"/>
          </a:xfrm>
        </p:spPr>
        <p:txBody>
          <a:bodyPr/>
          <a:lstStyle>
            <a:lvl1pPr>
              <a:defRPr/>
            </a:lvl1pPr>
          </a:lstStyle>
          <a:p>
            <a:fld id="{E0E5BCCF-FA65-4A39-A08E-3A00476076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1309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_footer_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143002"/>
            <a:ext cx="5689600" cy="5029201"/>
          </a:xfrm>
        </p:spPr>
        <p:txBody>
          <a:bodyPr/>
          <a:lstStyle>
            <a:lvl1pPr>
              <a:defRPr sz="2400"/>
            </a:lvl1pPr>
            <a:lvl2pPr>
              <a:defRPr sz="22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143002"/>
            <a:ext cx="5689600" cy="5029201"/>
          </a:xfrm>
        </p:spPr>
        <p:txBody>
          <a:bodyPr/>
          <a:lstStyle>
            <a:lvl1pPr>
              <a:defRPr sz="2400"/>
            </a:lvl1pPr>
            <a:lvl2pPr>
              <a:defRPr sz="22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11582400" cy="6858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C79AAAD-7661-4DEE-A2A8-9D89519D8782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53383" y="991092"/>
            <a:ext cx="11893100" cy="0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57A36EAF-C8E5-498F-896F-BC979647BA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35507" y="6356353"/>
            <a:ext cx="2844800" cy="365125"/>
          </a:xfrm>
        </p:spPr>
        <p:txBody>
          <a:bodyPr/>
          <a:lstStyle>
            <a:lvl1pPr>
              <a:defRPr/>
            </a:lvl1pPr>
          </a:lstStyle>
          <a:p>
            <a:fld id="{F9F4AD3C-935A-474E-8FBE-65B2C185D148}" type="datetime1">
              <a:rPr lang="en-US" smtClean="0"/>
              <a:t>4/25/26</a:t>
            </a:fld>
            <a:endParaRPr lang="en-US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7C61D51D-38A7-4D97-BB19-269ABBB6750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105594" y="6356353"/>
            <a:ext cx="1476805" cy="365125"/>
          </a:xfrm>
        </p:spPr>
        <p:txBody>
          <a:bodyPr/>
          <a:lstStyle>
            <a:lvl1pPr>
              <a:defRPr/>
            </a:lvl1pPr>
          </a:lstStyle>
          <a:p>
            <a:fld id="{E0E5BCCF-FA65-4A39-A08E-3A00476076F3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Footer Placeholder 5">
            <a:extLst>
              <a:ext uri="{FF2B5EF4-FFF2-40B4-BE49-F238E27FC236}">
                <a16:creationId xmlns:a16="http://schemas.microsoft.com/office/drawing/2014/main" id="{4ABB136F-B85C-4B2E-9A79-D11DBC91A785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560853" y="6356353"/>
            <a:ext cx="5296969" cy="365125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CIBS 2X-XX QX Update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F0DDE0A-59D1-43C3-A770-FEB6CCE777D6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374550" y="6240535"/>
            <a:ext cx="10671933" cy="0"/>
          </a:xfrm>
          <a:prstGeom prst="line">
            <a:avLst/>
          </a:prstGeom>
          <a:solidFill>
            <a:schemeClr val="accent1"/>
          </a:solidFill>
          <a:ln w="1905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  <p:pic>
        <p:nvPicPr>
          <p:cNvPr id="11" name="Picture 10" descr="A close up of a sign&#10;&#10;Description automatically generated">
            <a:extLst>
              <a:ext uri="{FF2B5EF4-FFF2-40B4-BE49-F238E27FC236}">
                <a16:creationId xmlns:a16="http://schemas.microsoft.com/office/drawing/2014/main" id="{F20C7DCD-AA3B-418A-B930-FC599D5542E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517" y="5626104"/>
            <a:ext cx="1118994" cy="1095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54758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143000"/>
            <a:ext cx="56917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828801"/>
            <a:ext cx="5691717" cy="42973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7600" y="1143000"/>
            <a:ext cx="568960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1828801"/>
            <a:ext cx="5693833" cy="42973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E0E5BCCF-FA65-4A39-A08E-3A00476076F3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11582400" cy="6858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88DA387-5AC6-4197-A50F-91565486E281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53383" y="991092"/>
            <a:ext cx="11893100" cy="0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32992861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_footer_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143000"/>
            <a:ext cx="56917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828801"/>
            <a:ext cx="5691717" cy="42973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7600" y="1143000"/>
            <a:ext cx="568960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1828801"/>
            <a:ext cx="5693833" cy="42973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11582400" cy="6858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88DA387-5AC6-4197-A50F-91565486E281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53383" y="991092"/>
            <a:ext cx="11893100" cy="0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925C47B2-1B88-4645-BEFA-8443E52F3B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35507" y="6356353"/>
            <a:ext cx="2844800" cy="365125"/>
          </a:xfrm>
        </p:spPr>
        <p:txBody>
          <a:bodyPr/>
          <a:lstStyle>
            <a:lvl1pPr>
              <a:defRPr/>
            </a:lvl1pPr>
          </a:lstStyle>
          <a:p>
            <a:fld id="{C5EA0F3D-85F3-498F-A3B4-A10BF0F05547}" type="datetime1">
              <a:rPr lang="en-US" smtClean="0"/>
              <a:t>4/25/26</a:t>
            </a:fld>
            <a:endParaRPr lang="en-US"/>
          </a:p>
        </p:txBody>
      </p:sp>
      <p:sp>
        <p:nvSpPr>
          <p:cNvPr id="15" name="Slide Number Placeholder 4">
            <a:extLst>
              <a:ext uri="{FF2B5EF4-FFF2-40B4-BE49-F238E27FC236}">
                <a16:creationId xmlns:a16="http://schemas.microsoft.com/office/drawing/2014/main" id="{8D5D0D85-774A-44F4-936F-6A810A73456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105594" y="6356353"/>
            <a:ext cx="1476805" cy="365125"/>
          </a:xfrm>
        </p:spPr>
        <p:txBody>
          <a:bodyPr/>
          <a:lstStyle>
            <a:lvl1pPr>
              <a:defRPr/>
            </a:lvl1pPr>
          </a:lstStyle>
          <a:p>
            <a:fld id="{E0E5BCCF-FA65-4A39-A08E-3A00476076F3}" type="slidenum">
              <a:rPr lang="en-US" smtClean="0"/>
              <a:t>‹#›</a:t>
            </a:fld>
            <a:endParaRPr lang="en-US"/>
          </a:p>
        </p:txBody>
      </p:sp>
      <p:sp>
        <p:nvSpPr>
          <p:cNvPr id="16" name="Footer Placeholder 5">
            <a:extLst>
              <a:ext uri="{FF2B5EF4-FFF2-40B4-BE49-F238E27FC236}">
                <a16:creationId xmlns:a16="http://schemas.microsoft.com/office/drawing/2014/main" id="{BBBB36C5-524D-405B-9AB6-71E5FA9C163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560853" y="6356353"/>
            <a:ext cx="5296969" cy="365125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CIBS 2X-XX QX Update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5F9EB78-8CC6-4CCE-9388-4C9D92A2972A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374550" y="6240535"/>
            <a:ext cx="10671933" cy="0"/>
          </a:xfrm>
          <a:prstGeom prst="line">
            <a:avLst/>
          </a:prstGeom>
          <a:solidFill>
            <a:schemeClr val="accent1"/>
          </a:solidFill>
          <a:ln w="1905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  <p:pic>
        <p:nvPicPr>
          <p:cNvPr id="18" name="Picture 17" descr="A close up of a sign&#10;&#10;Description automatically generated">
            <a:extLst>
              <a:ext uri="{FF2B5EF4-FFF2-40B4-BE49-F238E27FC236}">
                <a16:creationId xmlns:a16="http://schemas.microsoft.com/office/drawing/2014/main" id="{23BF85A4-CD47-446E-B572-DD04271F823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517" y="5626104"/>
            <a:ext cx="1118994" cy="1095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2378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E0E5BCCF-FA65-4A39-A08E-3A00476076F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11582400" cy="6858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3361871-CE09-4385-A5EA-B0F95608527A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53383" y="991092"/>
            <a:ext cx="11893100" cy="0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18960042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_footer_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11582400" cy="6858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3361871-CE09-4385-A5EA-B0F95608527A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53383" y="991092"/>
            <a:ext cx="11893100" cy="0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898F918A-1609-43B8-913F-980F8C8C3F4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35507" y="6356353"/>
            <a:ext cx="2844800" cy="365125"/>
          </a:xfrm>
        </p:spPr>
        <p:txBody>
          <a:bodyPr/>
          <a:lstStyle>
            <a:lvl1pPr>
              <a:defRPr/>
            </a:lvl1pPr>
          </a:lstStyle>
          <a:p>
            <a:fld id="{83C32B5B-FB51-42BB-8A68-CE1ABAB6E56C}" type="datetime1">
              <a:rPr lang="en-US" smtClean="0"/>
              <a:t>4/25/26</a:t>
            </a:fld>
            <a:endParaRPr 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1C582425-C7E4-4572-B8DC-E1D7742A09A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105594" y="6356353"/>
            <a:ext cx="1476805" cy="365125"/>
          </a:xfrm>
        </p:spPr>
        <p:txBody>
          <a:bodyPr/>
          <a:lstStyle>
            <a:lvl1pPr>
              <a:defRPr/>
            </a:lvl1pPr>
          </a:lstStyle>
          <a:p>
            <a:fld id="{E0E5BCCF-FA65-4A39-A08E-3A00476076F3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Footer Placeholder 5">
            <a:extLst>
              <a:ext uri="{FF2B5EF4-FFF2-40B4-BE49-F238E27FC236}">
                <a16:creationId xmlns:a16="http://schemas.microsoft.com/office/drawing/2014/main" id="{78E5D942-B418-4E06-9F14-CD74C2F207B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560853" y="6356353"/>
            <a:ext cx="5296969" cy="365125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CIBS 2X-XX QX Update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D9B2E8D-1131-4305-AC47-16CC354A6CC3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374550" y="6240535"/>
            <a:ext cx="10671933" cy="0"/>
          </a:xfrm>
          <a:prstGeom prst="line">
            <a:avLst/>
          </a:prstGeom>
          <a:solidFill>
            <a:schemeClr val="accent1"/>
          </a:solidFill>
          <a:ln w="1905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  <p:pic>
        <p:nvPicPr>
          <p:cNvPr id="9" name="Picture 8" descr="A close up of a sign&#10;&#10;Description automatically generated">
            <a:extLst>
              <a:ext uri="{FF2B5EF4-FFF2-40B4-BE49-F238E27FC236}">
                <a16:creationId xmlns:a16="http://schemas.microsoft.com/office/drawing/2014/main" id="{63EFC24C-9EEB-4423-9BA6-F7CADCE8120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517" y="5626104"/>
            <a:ext cx="1118994" cy="1095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6311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E0E5BCCF-FA65-4A39-A08E-3A00476076F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7878176-73F4-45B5-B8D9-81C3A6FF4706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53383" y="991092"/>
            <a:ext cx="11893100" cy="0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50090606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892964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9206137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319DD3F-A821-435F-AA2A-946225774DF4}" type="datetime1">
              <a:rPr lang="en-US" smtClean="0"/>
              <a:t>4/25/26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E0E5BCCF-FA65-4A39-A08E-3A00476076F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CIBS 2X-XX QX Update</a:t>
            </a:r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11582400" cy="6858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FCDF00B-6AAD-4A13-BD5C-2B86803D3DB5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53383" y="991092"/>
            <a:ext cx="11893100" cy="0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3088500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1" name="Rectangle 5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371600"/>
            <a:ext cx="10972800" cy="4724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</a:p>
        </p:txBody>
      </p:sp>
      <p:sp>
        <p:nvSpPr>
          <p:cNvPr id="2052" name="Rectangle 6"/>
          <p:cNvSpPr>
            <a:spLocks noGrp="1" noChangeArrowheads="1"/>
          </p:cNvSpPr>
          <p:nvPr>
            <p:ph type="title"/>
          </p:nvPr>
        </p:nvSpPr>
        <p:spPr bwMode="auto">
          <a:xfrm>
            <a:off x="812800" y="152400"/>
            <a:ext cx="105664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75" tIns="46038" rIns="92075" bIns="46038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CN"/>
              <a:t>Click to edit Master title style</a:t>
            </a:r>
          </a:p>
        </p:txBody>
      </p:sp>
      <p:sp>
        <p:nvSpPr>
          <p:cNvPr id="13" name="Date Placeholder 12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smtClean="0">
                <a:solidFill>
                  <a:schemeClr val="tx1">
                    <a:tint val="75000"/>
                  </a:schemeClr>
                </a:solidFill>
                <a:latin typeface="+mn-lt"/>
                <a:ea typeface="DejaVu Sans Condensed" panose="020B0606030804020204" pitchFamily="34" charset="0"/>
                <a:cs typeface="DejaVu Sans Condensed" panose="020B0606030804020204" pitchFamily="34" charset="0"/>
              </a:defRPr>
            </a:lvl1pPr>
          </a:lstStyle>
          <a:p>
            <a:fld id="{9DF946B4-8C84-48F7-9927-B119646062D2}" type="datetime1">
              <a:rPr lang="en-US" smtClean="0"/>
              <a:t>4/25/26</a:t>
            </a:fld>
            <a:endParaRPr lang="en-US"/>
          </a:p>
        </p:txBody>
      </p:sp>
      <p:sp>
        <p:nvSpPr>
          <p:cNvPr id="14" name="Footer Placeholder 13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dirty="0" smtClean="0">
                <a:solidFill>
                  <a:schemeClr val="tx1">
                    <a:tint val="75000"/>
                  </a:schemeClr>
                </a:solidFill>
                <a:latin typeface="+mn-lt"/>
                <a:ea typeface="DejaVu Sans Condensed" panose="020B0606030804020204" pitchFamily="34" charset="0"/>
                <a:cs typeface="DejaVu Sans Condensed" panose="020B0606030804020204" pitchFamily="34" charset="0"/>
              </a:defRPr>
            </a:lvl1pPr>
          </a:lstStyle>
          <a:p>
            <a:r>
              <a:rPr lang="en-US"/>
              <a:t>CIBS 2X-XX QX Update</a:t>
            </a:r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 smtClean="0">
                <a:solidFill>
                  <a:schemeClr val="tx1">
                    <a:tint val="75000"/>
                  </a:schemeClr>
                </a:solidFill>
                <a:latin typeface="+mn-lt"/>
                <a:ea typeface="DejaVu Sans Condensed" panose="020B0606030804020204" pitchFamily="34" charset="0"/>
                <a:cs typeface="DejaVu Sans Condensed" panose="020B0606030804020204" pitchFamily="34" charset="0"/>
              </a:defRPr>
            </a:lvl1pPr>
          </a:lstStyle>
          <a:p>
            <a:fld id="{E0E5BCCF-FA65-4A39-A08E-3A00476076F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2524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75" r:id="rId3"/>
    <p:sldLayoutId id="2147483679" r:id="rId4"/>
    <p:sldLayoutId id="2147483663" r:id="rId5"/>
    <p:sldLayoutId id="2147483665" r:id="rId6"/>
    <p:sldLayoutId id="2147483676" r:id="rId7"/>
    <p:sldLayoutId id="2147483666" r:id="rId8"/>
    <p:sldLayoutId id="2147483677" r:id="rId9"/>
    <p:sldLayoutId id="2147483667" r:id="rId10"/>
    <p:sldLayoutId id="2147483678" r:id="rId11"/>
    <p:sldLayoutId id="2147483668" r:id="rId12"/>
    <p:sldLayoutId id="2147483669" r:id="rId13"/>
    <p:sldLayoutId id="2147483671" r:id="rId14"/>
    <p:sldLayoutId id="2147483672" r:id="rId15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+mn-lt"/>
          <a:ea typeface="DejaVu Sans Condensed" panose="020B0606030804020204" pitchFamily="34" charset="0"/>
          <a:cs typeface="DejaVu Sans Condensed" panose="020B0606030804020204" pitchFamily="34" charset="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Book Antiqua" pitchFamily="18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Book Antiqua" pitchFamily="18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Book Antiqua" pitchFamily="18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Book Antiqua" pitchFamily="18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Book Antiqua" pitchFamily="18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Book Antiqua" pitchFamily="18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Book Antiqua" pitchFamily="18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Book Antiqua" pitchFamily="18" charset="0"/>
        </a:defRPr>
      </a:lvl9pPr>
    </p:titleStyle>
    <p:bodyStyle>
      <a:lvl1pPr marL="342900" indent="-342900" algn="l" rtl="0" eaLnBrk="1" fontAlgn="base" hangingPunct="1">
        <a:lnSpc>
          <a:spcPct val="120000"/>
        </a:lnSpc>
        <a:spcBef>
          <a:spcPct val="20000"/>
        </a:spcBef>
        <a:spcAft>
          <a:spcPct val="0"/>
        </a:spcAft>
        <a:buClr>
          <a:schemeClr val="tx1"/>
        </a:buClr>
        <a:buSzPct val="75000"/>
        <a:buFont typeface="Monotype Sorts" pitchFamily="2" charset="2"/>
        <a:buChar char="l"/>
        <a:defRPr sz="2800">
          <a:solidFill>
            <a:schemeClr val="tx1"/>
          </a:solidFill>
          <a:latin typeface="+mn-lt"/>
          <a:ea typeface="DejaVu Sans Condensed" panose="020B0606030804020204" pitchFamily="34" charset="0"/>
          <a:cs typeface="DejaVu Sans Condensed" panose="020B0606030804020204" pitchFamily="34" charset="0"/>
        </a:defRPr>
      </a:lvl1pPr>
      <a:lvl2pPr marL="742950" indent="-285750" algn="l" rtl="0" eaLnBrk="1" fontAlgn="base" hangingPunct="1">
        <a:lnSpc>
          <a:spcPct val="110000"/>
        </a:lnSpc>
        <a:spcBef>
          <a:spcPct val="20000"/>
        </a:spcBef>
        <a:spcAft>
          <a:spcPct val="0"/>
        </a:spcAft>
        <a:buClr>
          <a:schemeClr val="tx1"/>
        </a:buClr>
        <a:buChar char="»"/>
        <a:defRPr sz="2400">
          <a:solidFill>
            <a:schemeClr val="tx1"/>
          </a:solidFill>
          <a:latin typeface="+mn-lt"/>
          <a:ea typeface="DejaVu Sans Condensed" panose="020B0606030804020204" pitchFamily="34" charset="0"/>
          <a:cs typeface="DejaVu Sans Condensed" panose="020B0606030804020204" pitchFamily="34" charset="0"/>
        </a:defRPr>
      </a:lvl2pPr>
      <a:lvl3pPr marL="1143000" indent="-228600" algn="l" rtl="0" eaLnBrk="1" fontAlgn="base" hangingPunct="1">
        <a:lnSpc>
          <a:spcPct val="110000"/>
        </a:lnSpc>
        <a:spcBef>
          <a:spcPct val="20000"/>
        </a:spcBef>
        <a:spcAft>
          <a:spcPct val="0"/>
        </a:spcAft>
        <a:buClr>
          <a:schemeClr val="tx1"/>
        </a:buClr>
        <a:buChar char="–"/>
        <a:defRPr sz="2400">
          <a:solidFill>
            <a:schemeClr val="tx1"/>
          </a:solidFill>
          <a:latin typeface="+mn-lt"/>
          <a:ea typeface="DejaVu Sans Condensed" panose="020B0606030804020204" pitchFamily="34" charset="0"/>
          <a:cs typeface="DejaVu Sans Condensed" panose="020B0606030804020204" pitchFamily="34" charset="0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75000"/>
        <a:buFont typeface="Monotype Sorts" pitchFamily="2" charset="2"/>
        <a:buChar char="l"/>
        <a:defRPr sz="2400">
          <a:solidFill>
            <a:schemeClr val="tx1"/>
          </a:solidFill>
          <a:latin typeface="+mn-lt"/>
          <a:ea typeface="DejaVu Sans Condensed" panose="020B0606030804020204" pitchFamily="34" charset="0"/>
          <a:cs typeface="DejaVu Sans Condensed" panose="020B0606030804020204" pitchFamily="34" charset="0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Char char="»"/>
        <a:defRPr sz="2400">
          <a:solidFill>
            <a:schemeClr val="tx1"/>
          </a:solidFill>
          <a:latin typeface="+mn-lt"/>
          <a:ea typeface="DejaVu Sans Condensed" panose="020B0606030804020204" pitchFamily="34" charset="0"/>
          <a:cs typeface="DejaVu Sans Condensed" panose="020B0606030804020204" pitchFamily="34" charset="0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Char char="»"/>
        <a:defRPr>
          <a:solidFill>
            <a:schemeClr val="tx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Char char="»"/>
        <a:defRPr>
          <a:solidFill>
            <a:schemeClr val="tx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Char char="»"/>
        <a:defRPr>
          <a:solidFill>
            <a:schemeClr val="tx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Char char="»"/>
        <a:defRPr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B21D1F6-8101-4481-9C8D-6C4F40B901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870202"/>
            <a:ext cx="10363200" cy="1117596"/>
          </a:xfrm>
        </p:spPr>
        <p:txBody>
          <a:bodyPr/>
          <a:lstStyle/>
          <a:p>
            <a:r>
              <a:rPr lang="en-US" b="1" dirty="0"/>
              <a:t>CNN–based Prediction of </a:t>
            </a:r>
            <a:r>
              <a:rPr lang="en-US" dirty="0"/>
              <a:t>B</a:t>
            </a:r>
            <a:r>
              <a:rPr lang="en-US" b="1" dirty="0"/>
              <a:t>oiling Heat Transfer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C24A624B-C228-434C-B926-6BE023CB3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45029" y="4192858"/>
            <a:ext cx="10142375" cy="2417373"/>
          </a:xfrm>
        </p:spPr>
        <p:txBody>
          <a:bodyPr/>
          <a:lstStyle/>
          <a:p>
            <a:r>
              <a:rPr lang="en-US" sz="2000" dirty="0"/>
              <a:t>Yash Trivedi (yash.trivedi@okstate.edu)</a:t>
            </a:r>
          </a:p>
        </p:txBody>
      </p:sp>
    </p:spTree>
    <p:extLst>
      <p:ext uri="{BB962C8B-B14F-4D97-AF65-F5344CB8AC3E}">
        <p14:creationId xmlns:p14="http://schemas.microsoft.com/office/powerpoint/2010/main" val="39036895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83A974-D645-3A64-AE73-E1CB21ADF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96847"/>
            <a:ext cx="11582400" cy="685800"/>
          </a:xfrm>
        </p:spPr>
        <p:txBody>
          <a:bodyPr/>
          <a:lstStyle/>
          <a:p>
            <a:r>
              <a:rPr lang="en-US" dirty="0"/>
              <a:t>Introduction to Boiling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54458B-7773-9107-10B4-DD649C5E12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143000"/>
            <a:ext cx="5296969" cy="4953000"/>
          </a:xfrm>
        </p:spPr>
        <p:txBody>
          <a:bodyPr/>
          <a:lstStyle/>
          <a:p>
            <a:r>
              <a:rPr lang="en-US" sz="2400" dirty="0"/>
              <a:t>Heat transfer is a limiting design factor in many high-energy systems</a:t>
            </a:r>
          </a:p>
          <a:p>
            <a:r>
              <a:rPr lang="en-US" sz="2400" dirty="0"/>
              <a:t>Typical cooling strategies include forcing air/liquid over a heat source</a:t>
            </a:r>
          </a:p>
          <a:p>
            <a:pPr lvl="1"/>
            <a:r>
              <a:rPr lang="en-US" sz="2000" dirty="0"/>
              <a:t>Convective heat transfer can carry energy away from heat sources </a:t>
            </a:r>
          </a:p>
          <a:p>
            <a:r>
              <a:rPr lang="en-US" sz="2400" dirty="0"/>
              <a:t>Much more effective to boil a cooling fluid and take advantage of latent heat</a:t>
            </a:r>
          </a:p>
          <a:p>
            <a:pPr lvl="1"/>
            <a:r>
              <a:rPr lang="en-US" sz="2000" dirty="0"/>
              <a:t>10-100x better heat transfer 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7CC6DD-2AD3-3F92-8CDA-68D9BCA84CB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E5BCCF-FA65-4A39-A08E-3A00476076F3}" type="slidenum">
              <a:rPr lang="en-US" smtClean="0"/>
              <a:t>2</a:t>
            </a:fld>
            <a:endParaRPr lang="en-US"/>
          </a:p>
        </p:txBody>
      </p:sp>
      <p:pic>
        <p:nvPicPr>
          <p:cNvPr id="6" name="Boiling-91_NB.mp4">
            <a:hlinkClick r:id="" action="ppaction://media"/>
            <a:extLst>
              <a:ext uri="{FF2B5EF4-FFF2-40B4-BE49-F238E27FC236}">
                <a16:creationId xmlns:a16="http://schemas.microsoft.com/office/drawing/2014/main" id="{D6EC3577-8DE1-B1FD-5FD3-BC3C9BB03861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979531" y="1327924"/>
            <a:ext cx="5602868" cy="4202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1328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26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1641C6-34A7-9FDE-96DA-E577B6945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20E9DD49-D271-0AEF-2BF0-131F888053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8476" y="1929652"/>
            <a:ext cx="6148724" cy="416634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5566903-0DDA-7C2E-D537-8DBD146E0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96847"/>
            <a:ext cx="11582400" cy="685800"/>
          </a:xfrm>
        </p:spPr>
        <p:txBody>
          <a:bodyPr/>
          <a:lstStyle/>
          <a:p>
            <a:r>
              <a:rPr lang="en-US" dirty="0"/>
              <a:t>Introduction to Boiling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31F0FE-4811-D02A-AB8C-144A7E53A4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143000"/>
            <a:ext cx="5296969" cy="4953000"/>
          </a:xfrm>
        </p:spPr>
        <p:txBody>
          <a:bodyPr/>
          <a:lstStyle/>
          <a:p>
            <a:r>
              <a:rPr lang="en-US" sz="2400" dirty="0"/>
              <a:t>Plot of boiling heat transfer</a:t>
            </a:r>
          </a:p>
          <a:p>
            <a:pPr lvl="1"/>
            <a:r>
              <a:rPr lang="en-US" sz="2000" dirty="0"/>
              <a:t>Y-axis is heat transfer</a:t>
            </a:r>
          </a:p>
          <a:p>
            <a:pPr lvl="1"/>
            <a:r>
              <a:rPr lang="en-US" sz="2000" dirty="0"/>
              <a:t>X-axis is temperature difference between fluid and surface</a:t>
            </a:r>
          </a:p>
          <a:p>
            <a:r>
              <a:rPr lang="en-US" sz="2400" dirty="0"/>
              <a:t>Boiling takes place in different “regimes” based off conditions</a:t>
            </a:r>
          </a:p>
          <a:p>
            <a:pPr lvl="1"/>
            <a:r>
              <a:rPr lang="en-US" sz="2000" dirty="0"/>
              <a:t>Early regimes are more stable and safer to operate in, but relatively low heat transfer</a:t>
            </a:r>
          </a:p>
          <a:p>
            <a:pPr lvl="1"/>
            <a:r>
              <a:rPr lang="en-US" sz="2000" dirty="0"/>
              <a:t>Late regimes offer much higher heat transfer, but very unstable and unpredictable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F45DDE-3F8C-8E27-1D28-AE3385A01CE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E5BCCF-FA65-4A39-A08E-3A00476076F3}" type="slidenum">
              <a:rPr lang="en-US" smtClean="0"/>
              <a:t>3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C78819-1511-4431-FA76-D76C4899AD38}"/>
              </a:ext>
            </a:extLst>
          </p:cNvPr>
          <p:cNvSpPr txBox="1"/>
          <p:nvPr/>
        </p:nvSpPr>
        <p:spPr>
          <a:xfrm>
            <a:off x="6998644" y="1244389"/>
            <a:ext cx="9380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  <a:latin typeface="+mn-lt"/>
              </a:rPr>
              <a:t>Good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4CE860-A26F-5A33-1111-33B967AD819E}"/>
              </a:ext>
            </a:extLst>
          </p:cNvPr>
          <p:cNvSpPr txBox="1"/>
          <p:nvPr/>
        </p:nvSpPr>
        <p:spPr>
          <a:xfrm>
            <a:off x="9840806" y="1242746"/>
            <a:ext cx="7328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  <a:latin typeface="+mn-lt"/>
              </a:rPr>
              <a:t>Bad</a:t>
            </a:r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6B761340-0679-8AED-BB41-8F525FD0CBCA}"/>
              </a:ext>
            </a:extLst>
          </p:cNvPr>
          <p:cNvSpPr/>
          <p:nvPr/>
        </p:nvSpPr>
        <p:spPr bwMode="auto">
          <a:xfrm rot="5400000">
            <a:off x="7269154" y="724499"/>
            <a:ext cx="260353" cy="2279223"/>
          </a:xfrm>
          <a:prstGeom prst="leftBrace">
            <a:avLst/>
          </a:prstGeom>
          <a:noFill/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rgbClr val="FFFF00"/>
              </a:solidFill>
              <a:effectLst/>
              <a:latin typeface="Arial" charset="0"/>
            </a:endParaRPr>
          </a:p>
        </p:txBody>
      </p:sp>
      <p:sp>
        <p:nvSpPr>
          <p:cNvPr id="12" name="Left Brace 11">
            <a:extLst>
              <a:ext uri="{FF2B5EF4-FFF2-40B4-BE49-F238E27FC236}">
                <a16:creationId xmlns:a16="http://schemas.microsoft.com/office/drawing/2014/main" id="{8C1983E7-C242-CE9F-4C48-B4DEDEAE63D8}"/>
              </a:ext>
            </a:extLst>
          </p:cNvPr>
          <p:cNvSpPr/>
          <p:nvPr/>
        </p:nvSpPr>
        <p:spPr bwMode="auto">
          <a:xfrm rot="5400000">
            <a:off x="10144947" y="401825"/>
            <a:ext cx="265176" cy="2929394"/>
          </a:xfrm>
          <a:prstGeom prst="leftBrace">
            <a:avLst/>
          </a:prstGeom>
          <a:noFill/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rgbClr val="FFFF00"/>
              </a:solidFill>
              <a:effectLst/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24451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A83BF-83C9-CFEE-6FDF-50263768FB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F98B44-0C6E-9ADA-C916-F7F512F0A2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96847"/>
            <a:ext cx="11582400" cy="685800"/>
          </a:xfrm>
        </p:spPr>
        <p:txBody>
          <a:bodyPr/>
          <a:lstStyle/>
          <a:p>
            <a:r>
              <a:rPr lang="en-US" dirty="0"/>
              <a:t>Introduction to Boiling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14737F-2E46-9C98-77CE-5375E350382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E5BCCF-FA65-4A39-A08E-3A00476076F3}" type="slidenum">
              <a:rPr lang="en-US" smtClean="0"/>
              <a:t>4</a:t>
            </a:fld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908DC51-1904-41D1-1366-53B9FDF0C6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2347332"/>
            <a:ext cx="2644238" cy="36576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4E658A3-75C3-7DF0-5428-E79E2DFCCD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2484" y="2347332"/>
            <a:ext cx="2596737" cy="36576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E55D688C-4BBC-035B-931D-413F265F5CC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2781" y="2347332"/>
            <a:ext cx="2622728" cy="36576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9DC4699-2380-7413-B58F-A707190BC59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2488" y="2347332"/>
            <a:ext cx="2635045" cy="365760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F847D14A-31DA-B7C3-B343-CE81B3AC4881}"/>
              </a:ext>
            </a:extLst>
          </p:cNvPr>
          <p:cNvSpPr txBox="1"/>
          <p:nvPr/>
        </p:nvSpPr>
        <p:spPr>
          <a:xfrm>
            <a:off x="304800" y="1147003"/>
            <a:ext cx="2644238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>
                <a:solidFill>
                  <a:schemeClr val="tx1"/>
                </a:solidFill>
                <a:latin typeface="+mn-lt"/>
              </a:rPr>
              <a:t>Natural Convection</a:t>
            </a:r>
          </a:p>
          <a:p>
            <a:r>
              <a:rPr lang="en-US" dirty="0">
                <a:solidFill>
                  <a:schemeClr val="tx1"/>
                </a:solidFill>
                <a:latin typeface="+mn-lt"/>
              </a:rPr>
              <a:t>Boiling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11BF70-3509-90E1-16FE-D36A88581884}"/>
              </a:ext>
            </a:extLst>
          </p:cNvPr>
          <p:cNvSpPr txBox="1"/>
          <p:nvPr/>
        </p:nvSpPr>
        <p:spPr>
          <a:xfrm>
            <a:off x="3262482" y="1340624"/>
            <a:ext cx="2596738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>
                <a:solidFill>
                  <a:schemeClr val="tx1"/>
                </a:solidFill>
                <a:latin typeface="+mn-lt"/>
              </a:rPr>
              <a:t>Early Nucleate</a:t>
            </a:r>
          </a:p>
          <a:p>
            <a:r>
              <a:rPr lang="en-US" dirty="0">
                <a:solidFill>
                  <a:schemeClr val="tx1"/>
                </a:solidFill>
                <a:latin typeface="+mn-lt"/>
              </a:rPr>
              <a:t>Boiling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C903D66-A270-FEEB-1F59-997B7279E656}"/>
              </a:ext>
            </a:extLst>
          </p:cNvPr>
          <p:cNvSpPr txBox="1"/>
          <p:nvPr/>
        </p:nvSpPr>
        <p:spPr>
          <a:xfrm>
            <a:off x="6332781" y="1340623"/>
            <a:ext cx="262272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  <a:latin typeface="+mn-lt"/>
              </a:rPr>
              <a:t>Late Nucleate</a:t>
            </a:r>
          </a:p>
          <a:p>
            <a:r>
              <a:rPr lang="en-US" dirty="0">
                <a:solidFill>
                  <a:schemeClr val="tx1"/>
                </a:solidFill>
                <a:latin typeface="+mn-lt"/>
              </a:rPr>
              <a:t>Boiling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CAFA3B4-DE56-CB7B-A2B2-2F44077E94BA}"/>
              </a:ext>
            </a:extLst>
          </p:cNvPr>
          <p:cNvSpPr txBox="1"/>
          <p:nvPr/>
        </p:nvSpPr>
        <p:spPr>
          <a:xfrm>
            <a:off x="9332487" y="1331668"/>
            <a:ext cx="263504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  <a:latin typeface="+mn-lt"/>
              </a:rPr>
              <a:t>Near CHF</a:t>
            </a:r>
          </a:p>
          <a:p>
            <a:r>
              <a:rPr lang="en-US" dirty="0">
                <a:solidFill>
                  <a:schemeClr val="tx1"/>
                </a:solidFill>
                <a:latin typeface="+mn-lt"/>
              </a:rPr>
              <a:t>Boiling</a:t>
            </a:r>
          </a:p>
        </p:txBody>
      </p:sp>
      <p:sp>
        <p:nvSpPr>
          <p:cNvPr id="25" name="Curved Up Arrow 24">
            <a:extLst>
              <a:ext uri="{FF2B5EF4-FFF2-40B4-BE49-F238E27FC236}">
                <a16:creationId xmlns:a16="http://schemas.microsoft.com/office/drawing/2014/main" id="{7A4C13A1-E5C2-4F25-70DD-3DB5B365240C}"/>
              </a:ext>
            </a:extLst>
          </p:cNvPr>
          <p:cNvSpPr/>
          <p:nvPr/>
        </p:nvSpPr>
        <p:spPr bwMode="auto">
          <a:xfrm>
            <a:off x="1303153" y="4661209"/>
            <a:ext cx="793278" cy="384717"/>
          </a:xfrm>
          <a:prstGeom prst="curvedUpArrow">
            <a:avLst/>
          </a:prstGeom>
          <a:solidFill>
            <a:srgbClr val="FF0000"/>
          </a:solidFill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rgbClr val="FFFF00"/>
              </a:solidFill>
              <a:effectLst/>
              <a:latin typeface="Arial" charset="0"/>
            </a:endParaRPr>
          </a:p>
        </p:txBody>
      </p:sp>
      <p:sp>
        <p:nvSpPr>
          <p:cNvPr id="26" name="Curved Up Arrow 25">
            <a:extLst>
              <a:ext uri="{FF2B5EF4-FFF2-40B4-BE49-F238E27FC236}">
                <a16:creationId xmlns:a16="http://schemas.microsoft.com/office/drawing/2014/main" id="{7C99DFA7-9C92-663B-7C7A-84981DA234A3}"/>
              </a:ext>
            </a:extLst>
          </p:cNvPr>
          <p:cNvSpPr/>
          <p:nvPr/>
        </p:nvSpPr>
        <p:spPr bwMode="auto">
          <a:xfrm rot="10800000">
            <a:off x="1303153" y="2927195"/>
            <a:ext cx="793278" cy="384717"/>
          </a:xfrm>
          <a:prstGeom prst="curvedUpArrow">
            <a:avLst/>
          </a:prstGeom>
          <a:solidFill>
            <a:srgbClr val="00B0F0"/>
          </a:solidFill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rgbClr val="FFFF00"/>
              </a:solidFill>
              <a:effectLst/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41432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C3F7C3-4474-A92D-3BBE-86B2E0BCA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52F1CF-D897-97C3-41E2-AC2FEB20C1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96847"/>
            <a:ext cx="11582400" cy="685800"/>
          </a:xfrm>
        </p:spPr>
        <p:txBody>
          <a:bodyPr/>
          <a:lstStyle/>
          <a:p>
            <a:r>
              <a:rPr lang="en-US" dirty="0"/>
              <a:t>Introduction to Boiling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053AC5-6E25-D4A7-C63C-D1AB28299E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143000"/>
            <a:ext cx="4757854" cy="4953000"/>
          </a:xfrm>
        </p:spPr>
        <p:txBody>
          <a:bodyPr/>
          <a:lstStyle/>
          <a:p>
            <a:r>
              <a:rPr lang="en-US" sz="2400" dirty="0"/>
              <a:t>Video shows unstable bubble growth and departure as boiling approaches critical heat flux</a:t>
            </a:r>
          </a:p>
          <a:p>
            <a:r>
              <a:rPr lang="en-US" sz="2400" dirty="0"/>
              <a:t>Visually different to early boiling regimes</a:t>
            </a:r>
          </a:p>
          <a:p>
            <a:r>
              <a:rPr lang="en-US" sz="2400" dirty="0"/>
              <a:t>Visual differences open opportunities to use CNNs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ABB312-2F30-1AC0-60FC-81CE802ADC5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E5BCCF-FA65-4A39-A08E-3A00476076F3}" type="slidenum">
              <a:rPr lang="en-US" smtClean="0"/>
              <a:t>5</a:t>
            </a:fld>
            <a:endParaRPr lang="en-US"/>
          </a:p>
        </p:txBody>
      </p:sp>
      <p:pic>
        <p:nvPicPr>
          <p:cNvPr id="7" name="Boiling-91_nearCHF.mp4">
            <a:hlinkClick r:id="" action="ppaction://media"/>
            <a:extLst>
              <a:ext uri="{FF2B5EF4-FFF2-40B4-BE49-F238E27FC236}">
                <a16:creationId xmlns:a16="http://schemas.microsoft.com/office/drawing/2014/main" id="{6E24846E-AC15-CC3C-140A-AF6AAE3FD8B9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234877" y="1239179"/>
            <a:ext cx="6347522" cy="4760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350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653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37963-7BAA-4B39-2B25-098AB92A4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59BC6-2485-DDEB-7D10-5F923AB309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96847"/>
            <a:ext cx="11582400" cy="685800"/>
          </a:xfrm>
        </p:spPr>
        <p:txBody>
          <a:bodyPr/>
          <a:lstStyle/>
          <a:p>
            <a:r>
              <a:rPr lang="en-US" dirty="0"/>
              <a:t>Target Metric for CNN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C70ED3-0FAE-ADF0-00A5-3278B00C9A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04800" y="1143000"/>
                <a:ext cx="11582400" cy="4953000"/>
              </a:xfrm>
            </p:spPr>
            <p:txBody>
              <a:bodyPr/>
              <a:lstStyle/>
              <a:p>
                <a:r>
                  <a:rPr lang="en-US" sz="2400" dirty="0"/>
                  <a:t>As mentioned, it is beneficial to operate near CHF but important to understand instabilities to operate safely</a:t>
                </a:r>
              </a:p>
              <a:p>
                <a:r>
                  <a:rPr lang="en-US" sz="2400" dirty="0"/>
                  <a:t>Existing CNN-based work exists to predict heat transfer and CHF, but we define a new metric: </a:t>
                </a:r>
                <a:r>
                  <a:rPr lang="en-US" sz="2400" b="1" dirty="0"/>
                  <a:t>CHF Proximity</a:t>
                </a:r>
              </a:p>
              <a:p>
                <a:pPr marL="0" indent="0">
                  <a:buNone/>
                </a:pPr>
                <a:endParaRPr lang="en-US" sz="2400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𝛱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𝐶𝐻𝐹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3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3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𝑤𝑎𝑙𝑙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3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𝑠𝑎𝑡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3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3200" b="0" i="1">
                                      <a:latin typeface="Cambria Math" panose="02040503050406030204" pitchFamily="18" charset="0"/>
                                    </a:rPr>
                                    <m:t>𝑤𝑎𝑙𝑙</m:t>
                                  </m:r>
                                </m:sub>
                              </m:sSub>
                              <m:r>
                                <a:rPr lang="en-US" sz="3200" b="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3200" b="0" i="1">
                                      <a:latin typeface="Cambria Math" panose="02040503050406030204" pitchFamily="18" charset="0"/>
                                    </a:rPr>
                                    <m:t>𝑠𝑎𝑡</m:t>
                                  </m:r>
                                </m:sub>
                              </m:s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𝐶𝐻𝐹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C70ED3-0FAE-ADF0-00A5-3278B00C9A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04800" y="1143000"/>
                <a:ext cx="11582400" cy="4953000"/>
              </a:xfrm>
              <a:blipFill>
                <a:blip r:embed="rId2"/>
                <a:stretch>
                  <a:fillRect l="-219" t="-256" r="-12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837E03-3D14-321F-0538-E5C3580BE19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E5BCCF-FA65-4A39-A08E-3A00476076F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8529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02CA1E-4B68-21A6-64F7-9BF9002CE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92A995-1FCB-07C4-730A-BC89A6815C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96847"/>
            <a:ext cx="11582400" cy="685800"/>
          </a:xfrm>
        </p:spPr>
        <p:txBody>
          <a:bodyPr/>
          <a:lstStyle/>
          <a:p>
            <a:r>
              <a:rPr lang="en-US" dirty="0"/>
              <a:t>About the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925D44-CD79-E9CE-3F17-10D55BF1CC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143000"/>
            <a:ext cx="11582399" cy="4953000"/>
          </a:xfrm>
        </p:spPr>
        <p:txBody>
          <a:bodyPr/>
          <a:lstStyle/>
          <a:p>
            <a:r>
              <a:rPr lang="en-US" sz="2400" dirty="0"/>
              <a:t>Data from: “Unveiling hysteresis of transient boiling: A multimodal perspective”</a:t>
            </a:r>
          </a:p>
          <a:p>
            <a:pPr lvl="1"/>
            <a:r>
              <a:rPr lang="en-US" sz="2000" dirty="0"/>
              <a:t>Published by Pandey et. al, in 2025</a:t>
            </a:r>
          </a:p>
          <a:p>
            <a:pPr lvl="1"/>
            <a:r>
              <a:rPr lang="en-US" sz="2000" dirty="0"/>
              <a:t>Study to understand how boiling is different when ramping up and down in power using visual, audio, and temperature data</a:t>
            </a:r>
          </a:p>
          <a:p>
            <a:r>
              <a:rPr lang="en-US" sz="2400" dirty="0"/>
              <a:t>Produced and published two full videos of boiling ramping up to CHF and back down, along with all temperature data</a:t>
            </a:r>
          </a:p>
          <a:p>
            <a:pPr lvl="1"/>
            <a:r>
              <a:rPr lang="en-US" sz="2000" dirty="0"/>
              <a:t>Boiling_84: Deionized water on a copper foam surface</a:t>
            </a:r>
          </a:p>
          <a:p>
            <a:pPr lvl="1"/>
            <a:r>
              <a:rPr lang="en-US" sz="2000" dirty="0"/>
              <a:t>Boiling_91: Deionized water on a smooth copper surface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C92D66-9F85-BC3C-1A6A-8F940D1008D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E5BCCF-FA65-4A39-A08E-3A00476076F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8424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9DE7D-DE78-977B-FFCC-D238DAA28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808F5-3E00-2940-4942-2CB9D8FE3F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96847"/>
            <a:ext cx="11582400" cy="685800"/>
          </a:xfrm>
        </p:spPr>
        <p:txBody>
          <a:bodyPr/>
          <a:lstStyle/>
          <a:p>
            <a:r>
              <a:rPr lang="en-US" dirty="0"/>
              <a:t>Data Processing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35A0BC-DC5D-2927-730D-5994DFD696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143000"/>
            <a:ext cx="11582399" cy="4953000"/>
          </a:xfrm>
        </p:spPr>
        <p:txBody>
          <a:bodyPr/>
          <a:lstStyle/>
          <a:p>
            <a:r>
              <a:rPr lang="en-US" sz="2400" dirty="0"/>
              <a:t>Needed to create dataset of images and temperature points that are lined up</a:t>
            </a:r>
          </a:p>
          <a:p>
            <a:pPr lvl="1"/>
            <a:r>
              <a:rPr lang="en-US" sz="2000" dirty="0"/>
              <a:t>Boiling_84: 45 minutes at 60fps, 1.5 million temperature points</a:t>
            </a:r>
          </a:p>
          <a:p>
            <a:pPr lvl="1"/>
            <a:r>
              <a:rPr lang="en-US" sz="2000" dirty="0"/>
              <a:t>Boiling_91: 32 minutes at 60 fps, 1 million temperature points</a:t>
            </a:r>
          </a:p>
          <a:p>
            <a:r>
              <a:rPr lang="en-US" sz="2400" dirty="0"/>
              <a:t>Original dataset was far too data dense, so down-sampling was done</a:t>
            </a:r>
          </a:p>
          <a:p>
            <a:r>
              <a:rPr lang="en-US" sz="2400" dirty="0"/>
              <a:t>Python script created to chop up raw data and created linked image frame at every temperature point</a:t>
            </a:r>
          </a:p>
          <a:p>
            <a:r>
              <a:rPr lang="en-US" sz="2400" dirty="0"/>
              <a:t>Resulting in 1200 data points from each set from zero boiling up to CHF</a:t>
            </a:r>
          </a:p>
          <a:p>
            <a:pPr marL="0" indent="0">
              <a:buNone/>
            </a:pPr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471A1C-3656-6E9F-1E64-E04D9F2A6D0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E5BCCF-FA65-4A39-A08E-3A00476076F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261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80A27E-ABCF-7791-D21D-262F1718E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9380A-97EF-1F1B-35FF-1906F4707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96847"/>
            <a:ext cx="11582400" cy="685800"/>
          </a:xfrm>
        </p:spPr>
        <p:txBody>
          <a:bodyPr/>
          <a:lstStyle/>
          <a:p>
            <a:r>
              <a:rPr lang="en-US" dirty="0"/>
              <a:t>Data Processing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8984FF-64CC-0738-A441-60D2A5AEBC4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E5BCCF-FA65-4A39-A08E-3A00476076F3}" type="slidenum">
              <a:rPr lang="en-US" smtClean="0"/>
              <a:t>9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BC12347-9107-D50D-0621-58A973C429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657" y="1042265"/>
            <a:ext cx="5108343" cy="238673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91ACC10-AB92-AAAE-C127-A9A40EAFC4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657" y="3573814"/>
            <a:ext cx="5108343" cy="239529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4F0BC4B-B664-2F24-1480-4F3F81CE2D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09" r="14512"/>
          <a:stretch>
            <a:fillRect/>
          </a:stretch>
        </p:blipFill>
        <p:spPr>
          <a:xfrm>
            <a:off x="7012142" y="1214808"/>
            <a:ext cx="4192201" cy="4794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39894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FDB656-9DDB-479B-9103-A1B4CE6D9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Technical Update (xx slides)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4D445-49C4-4F5A-A712-435209DF13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Provide a description (in as many slides as deemed necessary) on the technical components of the project.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2861B3-0801-42C6-BE7B-A7DCD7A0E3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E5BCCF-FA65-4A39-A08E-3A00476076F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9193742"/>
      </p:ext>
    </p:extLst>
  </p:cSld>
  <p:clrMapOvr>
    <a:masterClrMapping/>
  </p:clrMapOvr>
</p:sld>
</file>

<file path=ppt/theme/theme1.xml><?xml version="1.0" encoding="utf-8"?>
<a:theme xmlns:a="http://schemas.openxmlformats.org/drawingml/2006/main" name="OSU_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CECECE"/>
      </a:lt2>
      <a:accent1>
        <a:srgbClr val="EBEBEB"/>
      </a:accent1>
      <a:accent2>
        <a:srgbClr val="232323"/>
      </a:accent2>
      <a:accent3>
        <a:srgbClr val="FFFFFF"/>
      </a:accent3>
      <a:accent4>
        <a:srgbClr val="000000"/>
      </a:accent4>
      <a:accent5>
        <a:srgbClr val="F3F3F3"/>
      </a:accent5>
      <a:accent6>
        <a:srgbClr val="1F1F1F"/>
      </a:accent6>
      <a:hlink>
        <a:srgbClr val="9C9C9C"/>
      </a:hlink>
      <a:folHlink>
        <a:srgbClr val="676767"/>
      </a:folHlink>
    </a:clrScheme>
    <a:fontScheme name="Presentation Template">
      <a:majorFont>
        <a:latin typeface="Book Antiqu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rgbClr val="FFFF00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rgbClr val="FFFF00"/>
            </a:solidFill>
            <a:effectLst/>
            <a:latin typeface="Arial" charset="0"/>
          </a:defRPr>
        </a:defPPr>
      </a:lstStyle>
    </a:lnDef>
    <a:txDef>
      <a:spPr>
        <a:noFill/>
      </a:spPr>
      <a:bodyPr wrap="square" rtlCol="0">
        <a:spAutoFit/>
      </a:bodyPr>
      <a:lstStyle>
        <a:defPPr>
          <a:defRPr dirty="0" smtClean="0">
            <a:solidFill>
              <a:schemeClr val="tx1"/>
            </a:solidFill>
            <a:latin typeface="+mn-lt"/>
          </a:defRPr>
        </a:defPPr>
      </a:lstStyle>
    </a:txDef>
  </a:objectDefaults>
  <a:extraClrSchemeLst>
    <a:extraClrScheme>
      <a:clrScheme name="Presentation Template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Templat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esentation Template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Template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Template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Template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Template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CIBS_Widescreen.potx" id="{A66507FD-A6DE-4EA4-8AA1-7DCED506D598}" vid="{160AD2E5-874C-44CB-A0C4-5FF6AA1767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6BB7CA23B735F45A2B499DBA370FE7F" ma:contentTypeVersion="18" ma:contentTypeDescription="Create a new document." ma:contentTypeScope="" ma:versionID="d9fa9f60debb44dc12b51df8746d7316">
  <xsd:schema xmlns:xsd="http://www.w3.org/2001/XMLSchema" xmlns:xs="http://www.w3.org/2001/XMLSchema" xmlns:p="http://schemas.microsoft.com/office/2006/metadata/properties" xmlns:ns2="333fd162-369a-4850-8d7b-16aeaa794114" xmlns:ns3="e9c64277-c3a5-4396-983e-cd9617f0c3fb" targetNamespace="http://schemas.microsoft.com/office/2006/metadata/properties" ma:root="true" ma:fieldsID="8b68c1b854d5c3510a6630055f462714" ns2:_="" ns3:_="">
    <xsd:import namespace="333fd162-369a-4850-8d7b-16aeaa794114"/>
    <xsd:import namespace="e9c64277-c3a5-4396-983e-cd9617f0c3f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LengthInSeconds" minOccurs="0"/>
                <xsd:element ref="ns2:MediaServiceOCR" minOccurs="0"/>
                <xsd:element ref="ns2:MediaServiceSearchPropertie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33fd162-369a-4850-8d7b-16aeaa7941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9" nillable="true" ma:taxonomy="true" ma:internalName="lcf76f155ced4ddcb4097134ff3c332f" ma:taxonomyFieldName="MediaServiceImageTags" ma:displayName="Image Tags" ma:readOnly="false" ma:fieldId="{5cf76f15-5ced-4ddc-b409-7134ff3c332f}" ma:taxonomyMulti="true" ma:sspId="babce5ee-ca9a-4d2a-a8e0-de529263518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2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5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c64277-c3a5-4396-983e-cd9617f0c3fb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0" nillable="true" ma:displayName="Taxonomy Catch All Column" ma:hidden="true" ma:list="{9ed49b1f-2ac7-41e5-8d02-1bb60dec2359}" ma:internalName="TaxCatchAll" ma:showField="CatchAllData" ma:web="e9c64277-c3a5-4396-983e-cd9617f0c3f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33fd162-369a-4850-8d7b-16aeaa794114">
      <Terms xmlns="http://schemas.microsoft.com/office/infopath/2007/PartnerControls"/>
    </lcf76f155ced4ddcb4097134ff3c332f>
    <TaxCatchAll xmlns="e9c64277-c3a5-4396-983e-cd9617f0c3fb" xsi:nil="true"/>
  </documentManagement>
</p:properties>
</file>

<file path=customXml/itemProps1.xml><?xml version="1.0" encoding="utf-8"?>
<ds:datastoreItem xmlns:ds="http://schemas.openxmlformats.org/officeDocument/2006/customXml" ds:itemID="{F92672A9-6D63-4DC6-B16B-93A1351EBE9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CC14C7A-F834-4C87-A811-F35FD775ECD5}">
  <ds:schemaRefs>
    <ds:schemaRef ds:uri="333fd162-369a-4850-8d7b-16aeaa794114"/>
    <ds:schemaRef ds:uri="e9c64277-c3a5-4396-983e-cd9617f0c3fb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AF1C01E1-15F4-4BED-B67D-E58FB8B5345A}">
  <ds:schemaRefs>
    <ds:schemaRef ds:uri="333fd162-369a-4850-8d7b-16aeaa794114"/>
    <ds:schemaRef ds:uri="e9c64277-c3a5-4396-983e-cd9617f0c3fb"/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CIBS_Widescreen</Template>
  <TotalTime>407</TotalTime>
  <Words>437</Words>
  <Application>Microsoft Macintosh PowerPoint</Application>
  <PresentationFormat>Widescreen</PresentationFormat>
  <Paragraphs>61</Paragraphs>
  <Slides>10</Slides>
  <Notes>0</Notes>
  <HiddenSlides>0</HiddenSlides>
  <MMClips>2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Book Antiqua</vt:lpstr>
      <vt:lpstr>Calibri</vt:lpstr>
      <vt:lpstr>Cambria Math</vt:lpstr>
      <vt:lpstr>Monotype Sorts</vt:lpstr>
      <vt:lpstr>OSU_theme</vt:lpstr>
      <vt:lpstr>CNN–based Prediction of Boiling Heat Transfer</vt:lpstr>
      <vt:lpstr>Introduction to Boiling</vt:lpstr>
      <vt:lpstr>Introduction to Boiling</vt:lpstr>
      <vt:lpstr>Introduction to Boiling</vt:lpstr>
      <vt:lpstr>Introduction to Boiling</vt:lpstr>
      <vt:lpstr>Target Metric for CNN</vt:lpstr>
      <vt:lpstr>About the dataset</vt:lpstr>
      <vt:lpstr>Data Processing</vt:lpstr>
      <vt:lpstr>Data Processing</vt:lpstr>
      <vt:lpstr>Technical Update (xx slides)</vt:lpstr>
    </vt:vector>
  </TitlesOfParts>
  <Company>Oklahoma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Title</dc:title>
  <dc:creator>Craig</dc:creator>
  <cp:lastModifiedBy>Trivedi, Yash</cp:lastModifiedBy>
  <cp:revision>6</cp:revision>
  <dcterms:created xsi:type="dcterms:W3CDTF">2020-12-15T15:46:54Z</dcterms:created>
  <dcterms:modified xsi:type="dcterms:W3CDTF">2026-04-26T02:09:56Z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0x01010016BB7CA23B735F45A2B499DBA370FE7F</vt:lpwstr>
  </property>
  <property fmtid="{D5CDD505-2E9C-101B-9397-08002B2CF9AE}" pid="3" name="MediaServiceImageTags">
    <vt:lpwstr/>
  </property>
</Properties>
</file>