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comments/modernComment_112_3171E0E5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3">
  <p:sldMasterIdLst>
    <p:sldMasterId id="2147483660" r:id="rId4"/>
  </p:sldMasterIdLst>
  <p:notesMasterIdLst>
    <p:notesMasterId r:id="rId16"/>
  </p:notesMasterIdLst>
  <p:sldIdLst>
    <p:sldId id="256" r:id="rId5"/>
    <p:sldId id="277" r:id="rId6"/>
    <p:sldId id="278" r:id="rId7"/>
    <p:sldId id="274" r:id="rId8"/>
    <p:sldId id="276" r:id="rId9"/>
    <p:sldId id="271" r:id="rId10"/>
    <p:sldId id="272" r:id="rId11"/>
    <p:sldId id="275" r:id="rId12"/>
    <p:sldId id="270" r:id="rId13"/>
    <p:sldId id="273" r:id="rId14"/>
    <p:sldId id="268" r:id="rId15"/>
  </p:sldIdLst>
  <p:sldSz cx="12192000" cy="6858000"/>
  <p:notesSz cx="6858000" cy="9144000"/>
  <p:defaultTextStyle>
    <a:defPPr>
      <a:defRPr lang="en-US"/>
    </a:defPPr>
    <a:lvl1pPr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1pPr>
    <a:lvl2pPr marL="457200"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2pPr>
    <a:lvl3pPr marL="914400"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3pPr>
    <a:lvl4pPr marL="1371600"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4pPr>
    <a:lvl5pPr marL="1828800"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rgbClr val="FFFF00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rgbClr val="FFFF00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rgbClr val="FFFF00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rgbClr val="FFFF00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125067-A68B-2843-2282-1249CDE45B97}" name="Bradshaw, Craig" initials="CB" userId="S::craig.bradshaw@okstate.edu::fb9dac05-a5c3-4e66-8c3a-1a8d41e4f6f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radshaw, Craig" initials="BC" lastIdx="2" clrIdx="0">
    <p:extLst>
      <p:ext uri="{19B8F6BF-5375-455C-9EA6-DF929625EA0E}">
        <p15:presenceInfo xmlns:p15="http://schemas.microsoft.com/office/powerpoint/2012/main" userId="S::craig.bradshaw@okstate.edu::fb9dac05-a5c3-4e66-8c3a-1a8d41e4f6f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BEBE"/>
    <a:srgbClr val="F27D00"/>
    <a:srgbClr val="D9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8E60A5-D6C2-4332-AED3-5721BD8C94D4}" v="3" dt="2025-03-11T21:50:38.6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29"/>
  </p:normalViewPr>
  <p:slideViewPr>
    <p:cSldViewPr snapToGrid="0">
      <p:cViewPr varScale="1">
        <p:scale>
          <a:sx n="115" d="100"/>
          <a:sy n="115" d="100"/>
        </p:scale>
        <p:origin x="66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linedinst, Sydney Nicole" userId="26ae4a5b-6468-48fe-9ba8-972c5268acbc" providerId="ADAL" clId="{55009EC1-C601-4FFD-9F4E-B459B22EB0B9}"/>
    <pc:docChg chg="modSld">
      <pc:chgData name="Klinedinst, Sydney Nicole" userId="26ae4a5b-6468-48fe-9ba8-972c5268acbc" providerId="ADAL" clId="{55009EC1-C601-4FFD-9F4E-B459B22EB0B9}" dt="2024-09-24T16:41:10.457" v="46" actId="20577"/>
      <pc:docMkLst>
        <pc:docMk/>
      </pc:docMkLst>
      <pc:sldChg chg="modSp mod">
        <pc:chgData name="Klinedinst, Sydney Nicole" userId="26ae4a5b-6468-48fe-9ba8-972c5268acbc" providerId="ADAL" clId="{55009EC1-C601-4FFD-9F4E-B459B22EB0B9}" dt="2024-09-24T16:41:10.457" v="46" actId="20577"/>
        <pc:sldMkLst>
          <pc:docMk/>
          <pc:sldMk cId="2651915716" sldId="268"/>
        </pc:sldMkLst>
        <pc:spChg chg="mod">
          <ac:chgData name="Klinedinst, Sydney Nicole" userId="26ae4a5b-6468-48fe-9ba8-972c5268acbc" providerId="ADAL" clId="{55009EC1-C601-4FFD-9F4E-B459B22EB0B9}" dt="2024-09-24T16:41:10.457" v="46" actId="20577"/>
          <ac:spMkLst>
            <pc:docMk/>
            <pc:sldMk cId="2651915716" sldId="268"/>
            <ac:spMk id="2" creationId="{E2656725-D9CD-4776-8E51-0E334B95C639}"/>
          </ac:spMkLst>
        </pc:spChg>
        <pc:graphicFrameChg chg="modGraphic">
          <ac:chgData name="Klinedinst, Sydney Nicole" userId="26ae4a5b-6468-48fe-9ba8-972c5268acbc" providerId="ADAL" clId="{55009EC1-C601-4FFD-9F4E-B459B22EB0B9}" dt="2024-09-24T16:40:59.988" v="45" actId="20577"/>
          <ac:graphicFrameMkLst>
            <pc:docMk/>
            <pc:sldMk cId="2651915716" sldId="268"/>
            <ac:graphicFrameMk id="9" creationId="{C184801D-0E04-4FAC-A045-02AEF3DC5413}"/>
          </ac:graphicFrameMkLst>
        </pc:graphicFrameChg>
      </pc:sldChg>
    </pc:docChg>
  </pc:docChgLst>
  <pc:docChgLst>
    <pc:chgData name="Khan, Muhammad Hasanat" userId="S::hasanat.khan@okstate.edu::df24e4c8-6072-4890-8e02-c7486c76678a" providerId="AD" clId="Web-{DC8E60A5-D6C2-4332-AED3-5721BD8C94D4}"/>
    <pc:docChg chg="modSld sldOrd">
      <pc:chgData name="Khan, Muhammad Hasanat" userId="S::hasanat.khan@okstate.edu::df24e4c8-6072-4890-8e02-c7486c76678a" providerId="AD" clId="Web-{DC8E60A5-D6C2-4332-AED3-5721BD8C94D4}" dt="2025-03-11T21:50:38.655" v="2"/>
      <pc:docMkLst>
        <pc:docMk/>
      </pc:docMkLst>
      <pc:sldChg chg="ord">
        <pc:chgData name="Khan, Muhammad Hasanat" userId="S::hasanat.khan@okstate.edu::df24e4c8-6072-4890-8e02-c7486c76678a" providerId="AD" clId="Web-{DC8E60A5-D6C2-4332-AED3-5721BD8C94D4}" dt="2025-03-11T21:50:38.655" v="2"/>
        <pc:sldMkLst>
          <pc:docMk/>
          <pc:sldMk cId="939193742" sldId="271"/>
        </pc:sldMkLst>
      </pc:sldChg>
      <pc:sldChg chg="modSp">
        <pc:chgData name="Khan, Muhammad Hasanat" userId="S::hasanat.khan@okstate.edu::df24e4c8-6072-4890-8e02-c7486c76678a" providerId="AD" clId="Web-{DC8E60A5-D6C2-4332-AED3-5721BD8C94D4}" dt="2025-03-11T16:02:51.147" v="0" actId="1076"/>
        <pc:sldMkLst>
          <pc:docMk/>
          <pc:sldMk cId="1217633629" sldId="277"/>
        </pc:sldMkLst>
        <pc:spChg chg="mod">
          <ac:chgData name="Khan, Muhammad Hasanat" userId="S::hasanat.khan@okstate.edu::df24e4c8-6072-4890-8e02-c7486c76678a" providerId="AD" clId="Web-{DC8E60A5-D6C2-4332-AED3-5721BD8C94D4}" dt="2025-03-11T16:02:51.147" v="0" actId="1076"/>
          <ac:spMkLst>
            <pc:docMk/>
            <pc:sldMk cId="1217633629" sldId="277"/>
            <ac:spMk id="4" creationId="{2050A74F-89D8-4D04-9F66-D858B01943D9}"/>
          </ac:spMkLst>
        </pc:spChg>
      </pc:sldChg>
    </pc:docChg>
  </pc:docChgLst>
</pc:chgInfo>
</file>

<file path=ppt/comments/modernComment_112_3171E0E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1F56306-3635-4A35-B821-7A1E06510BB6}" authorId="{BD125067-A68B-2843-2282-1249CDE45B97}" created="2023-04-12T16:01:11.320">
    <pc:sldMkLst xmlns:pc="http://schemas.microsoft.com/office/powerpoint/2013/main/command">
      <pc:docMk/>
      <pc:sldMk cId="829546725" sldId="274"/>
    </pc:sldMkLst>
    <p188:txBody>
      <a:bodyPr/>
      <a:lstStyle/>
      <a:p>
        <a:r>
          <a:rPr lang="en-US"/>
          <a:t>Before this slide, add a required OVERVIEW slide to summarize the major goals, objectives, and approach for the project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E37600-3FF5-47C7-8BA0-9F7A28028452}" type="datetimeFigureOut">
              <a:rPr lang="en-US" smtClean="0"/>
              <a:t>8/20/25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73D833-256C-457D-AF3F-8B6151CA8F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838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635129"/>
            <a:ext cx="10363200" cy="1117596"/>
          </a:xfrm>
        </p:spPr>
        <p:txBody>
          <a:bodyPr anchor="ctr"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2886075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A2E5B2-5BA5-44BF-9E51-5C580D47A77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159282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BEBEBE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2A7111AC-8BF5-467A-A1D3-11410D07D0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83" y="216750"/>
            <a:ext cx="7712608" cy="1120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970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>
            <a:lvl1pPr>
              <a:buSzPct val="75000"/>
              <a:defRPr/>
            </a:lvl1pPr>
            <a:lvl4pPr>
              <a:buSzPct val="75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293E45-6DDD-4643-BFE5-DC9E7639859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4" name="Slide Number Placeholder 7">
            <a:extLst>
              <a:ext uri="{FF2B5EF4-FFF2-40B4-BE49-F238E27FC236}">
                <a16:creationId xmlns:a16="http://schemas.microsoft.com/office/drawing/2014/main" id="{4747947B-31C9-4166-AD4F-3F289120211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737600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258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>
            <a:lvl1pPr>
              <a:buSzPct val="75000"/>
              <a:defRPr/>
            </a:lvl1pPr>
            <a:lvl4pPr>
              <a:buSzPct val="75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435507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46414D09-7245-48AC-9094-436365B95C54}" type="datetime1">
              <a:rPr lang="en-US" smtClean="0"/>
              <a:t>8/20/25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293E45-6DDD-4643-BFE5-DC9E7639859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C05133-A539-4461-AE69-9B8685F129CB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374550" y="6240535"/>
            <a:ext cx="10671933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1DD51376-0489-4516-A48F-644C4090EC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17" y="5626104"/>
            <a:ext cx="1118994" cy="109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137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>
            <a:lvl1pPr>
              <a:buSzPct val="75000"/>
              <a:defRPr/>
            </a:lvl1pPr>
            <a:lvl4pPr>
              <a:buSzPct val="75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293E45-6DDD-4643-BFE5-DC9E7639859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C05133-A539-4461-AE69-9B8685F129CB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038350" y="6226938"/>
            <a:ext cx="10008133" cy="13597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D53E5FC8-740D-4BC6-AB1E-1385ADAEE0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45517" y="6211060"/>
            <a:ext cx="1724025" cy="489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DF9F989-1A5C-4FAD-9888-C381C35CFB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38349" y="6356353"/>
            <a:ext cx="2241957" cy="365125"/>
          </a:xfrm>
        </p:spPr>
        <p:txBody>
          <a:bodyPr/>
          <a:lstStyle>
            <a:lvl1pPr>
              <a:defRPr/>
            </a:lvl1pPr>
          </a:lstStyle>
          <a:p>
            <a:fld id="{EE819041-2AF7-4776-B4E6-11CB3E5FFACA}" type="datetime1">
              <a:rPr lang="en-US" smtClean="0"/>
              <a:t>8/20/25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53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>
            <a:lvl1pPr>
              <a:buSzPct val="75000"/>
              <a:defRPr/>
            </a:lvl1pPr>
            <a:lvl4pPr>
              <a:buSzPct val="75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80672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43002"/>
            <a:ext cx="5689600" cy="5029201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43002"/>
            <a:ext cx="5689600" cy="5029201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C79AAAD-7661-4DEE-A2A8-9D89519D878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1" name="Slide Number Placeholder 7">
            <a:extLst>
              <a:ext uri="{FF2B5EF4-FFF2-40B4-BE49-F238E27FC236}">
                <a16:creationId xmlns:a16="http://schemas.microsoft.com/office/drawing/2014/main" id="{092A72F3-2A41-4DC8-ADA1-1E437B935E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737600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130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43002"/>
            <a:ext cx="5689600" cy="5029201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43002"/>
            <a:ext cx="5689600" cy="5029201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C79AAAD-7661-4DEE-A2A8-9D89519D878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57A36EAF-C8E5-498F-896F-BC979647BA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35507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F9F4AD3C-935A-474E-8FBE-65B2C185D148}" type="datetime1">
              <a:rPr lang="en-US" smtClean="0"/>
              <a:t>8/20/25</a:t>
            </a:fld>
            <a:endParaRPr lang="en-US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7C61D51D-38A7-4D97-BB19-269ABBB675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4ABB136F-B85C-4B2E-9A79-D11DBC91A78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F0DDE0A-59D1-43C3-A770-FEB6CCE777D6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374550" y="6240535"/>
            <a:ext cx="10671933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11" name="Picture 10" descr="A close up of a sign&#10;&#10;Description automatically generated">
            <a:extLst>
              <a:ext uri="{FF2B5EF4-FFF2-40B4-BE49-F238E27FC236}">
                <a16:creationId xmlns:a16="http://schemas.microsoft.com/office/drawing/2014/main" id="{F20C7DCD-AA3B-418A-B930-FC599D5542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17" y="5626104"/>
            <a:ext cx="1118994" cy="109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475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143000"/>
            <a:ext cx="56917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828801"/>
            <a:ext cx="5691717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7600" y="1143000"/>
            <a:ext cx="568960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1828801"/>
            <a:ext cx="5693833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88DA387-5AC6-4197-A50F-91565486E28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299286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143000"/>
            <a:ext cx="56917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828801"/>
            <a:ext cx="5691717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7600" y="1143000"/>
            <a:ext cx="568960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1828801"/>
            <a:ext cx="5693833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88DA387-5AC6-4197-A50F-91565486E28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925C47B2-1B88-4645-BEFA-8443E52F3B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35507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C5EA0F3D-85F3-498F-A3B4-A10BF0F05547}" type="datetime1">
              <a:rPr lang="en-US" smtClean="0"/>
              <a:t>8/20/25</a:t>
            </a:fld>
            <a:endParaRPr lang="en-US"/>
          </a:p>
        </p:txBody>
      </p: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8D5D0D85-774A-44F4-936F-6A810A7345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Footer Placeholder 5">
            <a:extLst>
              <a:ext uri="{FF2B5EF4-FFF2-40B4-BE49-F238E27FC236}">
                <a16:creationId xmlns:a16="http://schemas.microsoft.com/office/drawing/2014/main" id="{BBBB36C5-524D-405B-9AB6-71E5FA9C16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5F9EB78-8CC6-4CCE-9388-4C9D92A2972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374550" y="6240535"/>
            <a:ext cx="10671933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18" name="Picture 17" descr="A close up of a sign&#10;&#10;Description automatically generated">
            <a:extLst>
              <a:ext uri="{FF2B5EF4-FFF2-40B4-BE49-F238E27FC236}">
                <a16:creationId xmlns:a16="http://schemas.microsoft.com/office/drawing/2014/main" id="{23BF85A4-CD47-446E-B572-DD04271F823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17" y="5626104"/>
            <a:ext cx="1118994" cy="109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237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361871-CE09-4385-A5EA-B0F95608527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8960042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361871-CE09-4385-A5EA-B0F95608527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898F918A-1609-43B8-913F-980F8C8C3F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35507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83C32B5B-FB51-42BB-8A68-CE1ABAB6E56C}" type="datetime1">
              <a:rPr lang="en-US" smtClean="0"/>
              <a:t>8/20/25</a:t>
            </a:fld>
            <a:endParaRPr 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1C582425-C7E4-4572-B8DC-E1D7742A09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78E5D942-B418-4E06-9F14-CD74C2F207B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D9B2E8D-1131-4305-AC47-16CC354A6CC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374550" y="6240535"/>
            <a:ext cx="10671933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9" name="Picture 8" descr="A close up of a sign&#10;&#10;Description automatically generated">
            <a:extLst>
              <a:ext uri="{FF2B5EF4-FFF2-40B4-BE49-F238E27FC236}">
                <a16:creationId xmlns:a16="http://schemas.microsoft.com/office/drawing/2014/main" id="{63EFC24C-9EEB-4423-9BA6-F7CADCE8120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17" y="5626104"/>
            <a:ext cx="1118994" cy="109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6311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878176-73F4-45B5-B8D9-81C3A6FF4706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5009060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9296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206137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319DD3F-A821-435F-AA2A-946225774DF4}" type="datetime1">
              <a:rPr lang="en-US" smtClean="0"/>
              <a:t>8/20/25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FCDF00B-6AAD-4A13-BD5C-2B86803D3DB5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08850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371600"/>
            <a:ext cx="10972800" cy="472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</a:p>
        </p:txBody>
      </p:sp>
      <p:sp>
        <p:nvSpPr>
          <p:cNvPr id="2052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812800" y="152400"/>
            <a:ext cx="10566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title style</a:t>
            </a:r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smtClean="0">
                <a:solidFill>
                  <a:schemeClr val="tx1">
                    <a:tint val="75000"/>
                  </a:schemeClr>
                </a:solidFill>
                <a:latin typeface="+mn-lt"/>
                <a:ea typeface="DejaVu Sans Condensed" panose="020B0606030804020204" pitchFamily="34" charset="0"/>
                <a:cs typeface="DejaVu Sans Condensed" panose="020B0606030804020204" pitchFamily="34" charset="0"/>
              </a:defRPr>
            </a:lvl1pPr>
          </a:lstStyle>
          <a:p>
            <a:fld id="{9DF946B4-8C84-48F7-9927-B119646062D2}" type="datetime1">
              <a:rPr lang="en-US" smtClean="0"/>
              <a:t>8/20/25</a:t>
            </a:fld>
            <a:endParaRPr lang="en-US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dirty="0" smtClean="0">
                <a:solidFill>
                  <a:schemeClr val="tx1">
                    <a:tint val="75000"/>
                  </a:schemeClr>
                </a:solidFill>
                <a:latin typeface="+mn-lt"/>
                <a:ea typeface="DejaVu Sans Condensed" panose="020B0606030804020204" pitchFamily="34" charset="0"/>
                <a:cs typeface="DejaVu Sans Condensed" panose="020B0606030804020204" pitchFamily="34" charset="0"/>
              </a:defRPr>
            </a:lvl1pPr>
          </a:lstStyle>
          <a:p>
            <a:r>
              <a:rPr lang="en-US"/>
              <a:t>CIBS 2X-XX QX Update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smtClean="0">
                <a:solidFill>
                  <a:schemeClr val="tx1">
                    <a:tint val="75000"/>
                  </a:schemeClr>
                </a:solidFill>
                <a:latin typeface="+mn-lt"/>
                <a:ea typeface="DejaVu Sans Condensed" panose="020B0606030804020204" pitchFamily="34" charset="0"/>
                <a:cs typeface="DejaVu Sans Condensed" panose="020B0606030804020204" pitchFamily="34" charset="0"/>
              </a:defRPr>
            </a:lvl1pPr>
          </a:lstStyle>
          <a:p>
            <a:fld id="{E0E5BCCF-FA65-4A39-A08E-3A00476076F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52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9" r:id="rId4"/>
    <p:sldLayoutId id="2147483663" r:id="rId5"/>
    <p:sldLayoutId id="2147483665" r:id="rId6"/>
    <p:sldLayoutId id="2147483676" r:id="rId7"/>
    <p:sldLayoutId id="2147483666" r:id="rId8"/>
    <p:sldLayoutId id="2147483677" r:id="rId9"/>
    <p:sldLayoutId id="2147483667" r:id="rId10"/>
    <p:sldLayoutId id="2147483678" r:id="rId11"/>
    <p:sldLayoutId id="2147483668" r:id="rId12"/>
    <p:sldLayoutId id="2147483669" r:id="rId13"/>
    <p:sldLayoutId id="2147483671" r:id="rId14"/>
    <p:sldLayoutId id="2147483672" r:id="rId15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9pPr>
    </p:titleStyle>
    <p:bodyStyle>
      <a:lvl1pPr marL="342900" indent="-342900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SzPct val="75000"/>
        <a:buFont typeface="Monotype Sorts" pitchFamily="2" charset="2"/>
        <a:buChar char="l"/>
        <a:defRPr sz="28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1pPr>
      <a:lvl2pPr marL="742950" indent="-285750" algn="l" rtl="0" eaLnBrk="1" fontAlgn="base" hangingPunct="1">
        <a:lnSpc>
          <a:spcPct val="110000"/>
        </a:lnSpc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2pPr>
      <a:lvl3pPr marL="1143000" indent="-228600" algn="l" rtl="0" eaLnBrk="1" fontAlgn="base" hangingPunct="1">
        <a:lnSpc>
          <a:spcPct val="110000"/>
        </a:lnSpc>
        <a:spcBef>
          <a:spcPct val="20000"/>
        </a:spcBef>
        <a:spcAft>
          <a:spcPct val="0"/>
        </a:spcAft>
        <a:buClr>
          <a:schemeClr val="tx1"/>
        </a:buClr>
        <a:buChar char="–"/>
        <a:defRPr sz="24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75000"/>
        <a:buFont typeface="Monotype Sorts" pitchFamily="2" charset="2"/>
        <a:buChar char="l"/>
        <a:defRPr sz="24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2_3171E0E5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B21D1F6-8101-4481-9C8D-6C4F40B901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/>
              <a:t>Reporting Template for IN-PERSON Updates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24A624B-C228-434C-B926-6BE023CB3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5029" y="2614820"/>
            <a:ext cx="10142375" cy="3995412"/>
          </a:xfrm>
        </p:spPr>
        <p:txBody>
          <a:bodyPr/>
          <a:lstStyle/>
          <a:p>
            <a:r>
              <a:rPr lang="en-US" sz="2000" dirty="0"/>
              <a:t>Research Assistants(s): </a:t>
            </a:r>
          </a:p>
          <a:p>
            <a:r>
              <a:rPr lang="en-US" sz="2000" dirty="0"/>
              <a:t>Yash Trivedi (</a:t>
            </a:r>
            <a:r>
              <a:rPr lang="en-US" sz="2000" dirty="0" err="1"/>
              <a:t>yash.trivedi@okstate.edu</a:t>
            </a:r>
            <a:r>
              <a:rPr lang="en-US" sz="2000" dirty="0"/>
              <a:t>)</a:t>
            </a:r>
          </a:p>
          <a:p>
            <a:r>
              <a:rPr lang="en-US" sz="2000" dirty="0"/>
              <a:t>Project Leader(s): </a:t>
            </a:r>
          </a:p>
          <a:p>
            <a:r>
              <a:rPr lang="en-US" sz="2000" dirty="0"/>
              <a:t>Dr. Haotian Liu (</a:t>
            </a:r>
            <a:r>
              <a:rPr lang="en-US" sz="2000" dirty="0" err="1"/>
              <a:t>haotian.liu@okstate.edu</a:t>
            </a:r>
            <a:r>
              <a:rPr lang="en-US" sz="2000" dirty="0"/>
              <a:t>)</a:t>
            </a:r>
          </a:p>
          <a:p>
            <a:r>
              <a:rPr lang="en-US" sz="2000" dirty="0"/>
              <a:t>Department: Mechanical Engineering</a:t>
            </a:r>
          </a:p>
          <a:p>
            <a:endParaRPr lang="en-US" sz="2000" dirty="0"/>
          </a:p>
          <a:p>
            <a:pPr>
              <a:spcBef>
                <a:spcPts val="0"/>
              </a:spcBef>
            </a:pPr>
            <a:r>
              <a:rPr lang="en-US" sz="1800" dirty="0"/>
              <a:t>Project Tracking Number: #</a:t>
            </a:r>
          </a:p>
          <a:p>
            <a:pPr>
              <a:spcBef>
                <a:spcPts val="0"/>
              </a:spcBef>
            </a:pPr>
            <a:r>
              <a:rPr lang="en-US" sz="1800" dirty="0"/>
              <a:t>Topic Focus Areas: #</a:t>
            </a:r>
          </a:p>
          <a:p>
            <a:pPr>
              <a:spcBef>
                <a:spcPts val="0"/>
              </a:spcBef>
            </a:pPr>
            <a:r>
              <a:rPr lang="en-US" sz="1800" dirty="0"/>
              <a:t>Performance Period: Jan. 1- Dec. 31, </a:t>
            </a:r>
            <a:r>
              <a:rPr lang="en-US" sz="1800" dirty="0">
                <a:highlight>
                  <a:srgbClr val="FFFF00"/>
                </a:highlight>
              </a:rPr>
              <a:t>20XX</a:t>
            </a:r>
          </a:p>
          <a:p>
            <a:pPr>
              <a:spcBef>
                <a:spcPts val="0"/>
              </a:spcBef>
            </a:pPr>
            <a:r>
              <a:rPr lang="en-US" sz="1800" dirty="0"/>
              <a:t>Reporting Period: </a:t>
            </a:r>
            <a:r>
              <a:rPr lang="en-US" sz="1800" dirty="0">
                <a:highlight>
                  <a:srgbClr val="FFFF00"/>
                </a:highlight>
              </a:rPr>
              <a:t>Most recent quarter</a:t>
            </a:r>
          </a:p>
        </p:txBody>
      </p:sp>
    </p:spTree>
    <p:extLst>
      <p:ext uri="{BB962C8B-B14F-4D97-AF65-F5344CB8AC3E}">
        <p14:creationId xmlns:p14="http://schemas.microsoft.com/office/powerpoint/2010/main" val="3903689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CD9B1-CBAA-4228-A648-CDCCF018E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Instructions (delete this slide)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EE4F8-0908-429E-85F4-1617623EBD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5-6 required slides</a:t>
            </a:r>
          </a:p>
          <a:p>
            <a:r>
              <a:rPr lang="en-US" dirty="0"/>
              <a:t>Each required slide includes an estimated number of slides in the header (1 slide) this information can be deleted from your final presentation</a:t>
            </a:r>
          </a:p>
          <a:p>
            <a:r>
              <a:rPr lang="en-US" dirty="0"/>
              <a:t>Please keep the Main Accomplishments slide first after the title</a:t>
            </a:r>
          </a:p>
          <a:p>
            <a:pPr lvl="1"/>
            <a:r>
              <a:rPr lang="en-US" dirty="0"/>
              <a:t>The remaining required slides can be re-arranged to better fit your narrative</a:t>
            </a:r>
          </a:p>
          <a:p>
            <a:r>
              <a:rPr lang="en-US" dirty="0"/>
              <a:t>Feel free to add slides between the required slides (e.g. Overview, questions, references, etc.)</a:t>
            </a:r>
          </a:p>
          <a:p>
            <a:r>
              <a:rPr lang="en-US" dirty="0"/>
              <a:t>Use any of the slide layouts you would like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50A74F-89D8-4D04-9F66-D858B01943D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560853" y="6374714"/>
            <a:ext cx="5296969" cy="365125"/>
          </a:xfrm>
        </p:spPr>
        <p:txBody>
          <a:bodyPr/>
          <a:lstStyle/>
          <a:p>
            <a:r>
              <a:rPr lang="en-US"/>
              <a:t>CIBS 2X-XX QX Update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7B0D0C-80D6-46C9-B38B-231A49C645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633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3A974-D645-3A64-AE73-E1CB21ADF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Overview (1 slide)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4458B-7773-9107-10B4-DD649C5E1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Use this slide to provide a high-level overview of the project:</a:t>
            </a:r>
          </a:p>
          <a:p>
            <a:pPr lvl="1"/>
            <a:r>
              <a:rPr lang="en-US"/>
              <a:t>Goals</a:t>
            </a:r>
          </a:p>
          <a:p>
            <a:pPr lvl="1"/>
            <a:r>
              <a:rPr lang="en-US"/>
              <a:t>Objectives</a:t>
            </a:r>
          </a:p>
          <a:p>
            <a:pPr lvl="1"/>
            <a:r>
              <a:rPr lang="en-US"/>
              <a:t>Scope</a:t>
            </a:r>
          </a:p>
          <a:p>
            <a:pPr lvl="1"/>
            <a:r>
              <a:rPr lang="en-US"/>
              <a:t>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7CC6DD-2AD3-3F92-8CDA-68D9BCA84C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ADBE88-773B-48C8-0CC5-C45C09B1BA6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CIBS 2X-XX QX Update</a:t>
            </a:r>
          </a:p>
        </p:txBody>
      </p:sp>
    </p:spTree>
    <p:extLst>
      <p:ext uri="{BB962C8B-B14F-4D97-AF65-F5344CB8AC3E}">
        <p14:creationId xmlns:p14="http://schemas.microsoft.com/office/powerpoint/2010/main" val="1021328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20AB5-61C4-4816-B71A-FBCEEBA2B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Main Accomplishments (1 slide)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15D7E-D427-40EF-AF43-F792E5DDE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List here the major accomplishments for this reporting period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Enumerate and describe them (e.g. pushed a codebase to the CIBS repository, published a paper in </a:t>
            </a:r>
            <a:r>
              <a:rPr lang="en-US" err="1"/>
              <a:t>xyz</a:t>
            </a:r>
            <a:r>
              <a:rPr lang="en-US"/>
              <a:t> journal, etc.)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List the progress toward incomplete/in-progress deliverables/outcomes</a:t>
            </a:r>
          </a:p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99CDB1-0A79-4262-90C5-2A2E301F154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CIBS 2X-XX QX Update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02FDA3-57FC-49BA-9F05-95B655FEB7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5467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6BAD2-01B2-4EFD-8522-49D38B8AC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Response to LIFE Feedback (if applicable)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C702A-C63C-42FB-9125-536A6FFE7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Respond to any major LIFE feedback from the previous meeting here. If there is nothing notable, this does not need to be included.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0E0E8-622B-44D4-928D-0717BA7F8D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7C2E1E-CFE8-466B-9DD4-CF14D2E0F93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CIBS 2X-XX QX Update</a:t>
            </a:r>
          </a:p>
        </p:txBody>
      </p:sp>
    </p:spTree>
    <p:extLst>
      <p:ext uri="{BB962C8B-B14F-4D97-AF65-F5344CB8AC3E}">
        <p14:creationId xmlns:p14="http://schemas.microsoft.com/office/powerpoint/2010/main" val="4220338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DB656-9DDB-479B-9103-A1B4CE6D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Technical Update (xx slides)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4D445-49C4-4F5A-A712-435209DF1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Provide a description (in as many slides as deemed necessary) on the technical components of the project.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861B3-0801-42C6-BE7B-A7DCD7A0E3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193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BE18A-2FBB-48BE-B7D8-BA9366949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Broadening Participation (1-2 slides)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22286-797E-4E9A-BC63-933C78629E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Provide an update on the Broadening Participation mechanism used and any updates on this component</a:t>
            </a:r>
          </a:p>
          <a:p>
            <a:pPr lvl="1"/>
            <a:r>
              <a:rPr lang="en-US"/>
              <a:t>E.g. how is your capstone team doing?  </a:t>
            </a:r>
          </a:p>
          <a:p>
            <a:pPr lvl="1"/>
            <a:r>
              <a:rPr lang="en-US"/>
              <a:t>Are you using a UGRA/CIBS INTERN?</a:t>
            </a:r>
          </a:p>
          <a:p>
            <a:r>
              <a:rPr lang="en-US"/>
              <a:t>Re-iterate the relevance to the members and/or the project</a:t>
            </a:r>
          </a:p>
          <a:p>
            <a:pPr lvl="1"/>
            <a:r>
              <a:rPr lang="en-US"/>
              <a:t>If your broadening participation does not work directly for the project, how will the members benefit</a:t>
            </a:r>
          </a:p>
          <a:p>
            <a:pPr lvl="2"/>
            <a:r>
              <a:rPr lang="en-US"/>
              <a:t>Talent development?</a:t>
            </a:r>
          </a:p>
          <a:p>
            <a:pPr lvl="2"/>
            <a:r>
              <a:rPr lang="en-US"/>
              <a:t>More infrastructure to be leveraged for future CIBS projects?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110B5-994B-44C4-9B7D-74DE5473B08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5DB640-EF7B-46A3-96B3-01FAC993EF9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CIBS 2X-XX QX Update</a:t>
            </a:r>
          </a:p>
        </p:txBody>
      </p:sp>
    </p:spTree>
    <p:extLst>
      <p:ext uri="{BB962C8B-B14F-4D97-AF65-F5344CB8AC3E}">
        <p14:creationId xmlns:p14="http://schemas.microsoft.com/office/powerpoint/2010/main" val="2224033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E9C31-F2C9-4C2D-BF0B-5E48F5E61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Outlook (6 mo. Ahead) (1 slide)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A4EFF-0EEA-43D0-8A2F-52B2313F5A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Report what you plan to do over the next six months</a:t>
            </a:r>
          </a:p>
          <a:p>
            <a:pPr lvl="1"/>
            <a:r>
              <a:rPr lang="en-US"/>
              <a:t>Include any deliverables that are expected to be completed</a:t>
            </a:r>
          </a:p>
          <a:p>
            <a:pPr lvl="1"/>
            <a:r>
              <a:rPr lang="en-US"/>
              <a:t>Include how the results presented support this plan</a:t>
            </a:r>
          </a:p>
          <a:p>
            <a:pPr lvl="1"/>
            <a:r>
              <a:rPr lang="en-US"/>
              <a:t>If any feedback/support is required from the IAB, note that here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D7238A-75C9-4A88-853C-E977FA6844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08F79E-4730-4D51-A084-ACC4C4F7F4B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CIBS 2X-XX QX Update</a:t>
            </a:r>
          </a:p>
        </p:txBody>
      </p:sp>
    </p:spTree>
    <p:extLst>
      <p:ext uri="{BB962C8B-B14F-4D97-AF65-F5344CB8AC3E}">
        <p14:creationId xmlns:p14="http://schemas.microsoft.com/office/powerpoint/2010/main" val="3042451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191A6-A7EC-475D-BEDD-716F3762F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Staffing and Support (1 slide)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5CCD3-2DF5-4483-8A10-30A9019E6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List here the students, staff, and other individuals that are supporting your project and at what level</a:t>
            </a:r>
          </a:p>
          <a:p>
            <a:pPr lvl="1"/>
            <a:r>
              <a:rPr lang="en-US"/>
              <a:t>Make special note to separate GRA’s from any UGRA involvement</a:t>
            </a:r>
          </a:p>
          <a:p>
            <a:pPr lvl="1"/>
            <a:r>
              <a:rPr lang="en-US"/>
              <a:t>Mention CIBS INTERNS, separately as well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8C31E-9F80-43C0-8FF7-665F70EE00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1C652D-EC57-4905-8727-F6441E42B93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CIBS 2X-XX QX Update</a:t>
            </a:r>
          </a:p>
        </p:txBody>
      </p:sp>
    </p:spTree>
    <p:extLst>
      <p:ext uri="{BB962C8B-B14F-4D97-AF65-F5344CB8AC3E}">
        <p14:creationId xmlns:p14="http://schemas.microsoft.com/office/powerpoint/2010/main" val="27579119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7A75D-63E8-43A6-A45C-F316F83A7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Acknowledgements (1 slide)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4E4517-6D4B-49C7-A01A-49E1E10D9D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If you received any donations or other in-kind gifts, acknowledge them here.</a:t>
            </a:r>
          </a:p>
          <a:p>
            <a:pPr lvl="1"/>
            <a:r>
              <a:rPr lang="en-US"/>
              <a:t>This should include physical items (units, ductwork, compressors, etc.)</a:t>
            </a:r>
          </a:p>
          <a:p>
            <a:pPr lvl="1"/>
            <a:r>
              <a:rPr lang="en-US"/>
              <a:t>In-kind engineering time</a:t>
            </a:r>
          </a:p>
          <a:p>
            <a:pPr lvl="1"/>
            <a:r>
              <a:rPr lang="en-US"/>
              <a:t>Support from your Industry Mentor, please do list their name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6CA78E-EF2C-4603-9A6D-387C679607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364153-9153-418D-A6CB-9295D06DFFE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CIBS 2X-XX QX Update</a:t>
            </a:r>
          </a:p>
        </p:txBody>
      </p:sp>
    </p:spTree>
    <p:extLst>
      <p:ext uri="{BB962C8B-B14F-4D97-AF65-F5344CB8AC3E}">
        <p14:creationId xmlns:p14="http://schemas.microsoft.com/office/powerpoint/2010/main" val="38143080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56725-D9CD-4776-8E51-0E334B95C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Reference - Reporting Schedule – 2024 (delete)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299B1E-2C6B-4053-92AA-810D93F8CB8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CIBS 2X-XX QX Update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526A00-4446-42A9-97E1-0A0837FE8C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616872-1F9C-4F47-9F12-1825A8339F70}"/>
              </a:ext>
            </a:extLst>
          </p:cNvPr>
          <p:cNvSpPr txBox="1"/>
          <p:nvPr/>
        </p:nvSpPr>
        <p:spPr>
          <a:xfrm>
            <a:off x="787481" y="5616311"/>
            <a:ext cx="111603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1"/>
                </a:solidFill>
                <a:latin typeface="+mn-lt"/>
              </a:rPr>
              <a:t>* If final project report, a more comprehensive written report is required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7AE84A7-D2BE-4DE3-A5CD-C34AFE219E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C184801D-0E04-4FAC-A045-02AEF3DC54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58803009"/>
              </p:ext>
            </p:extLst>
          </p:nvPr>
        </p:nvGraphicFramePr>
        <p:xfrm>
          <a:off x="365451" y="1530938"/>
          <a:ext cx="11582398" cy="322480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936712">
                  <a:extLst>
                    <a:ext uri="{9D8B030D-6E8A-4147-A177-3AD203B41FA5}">
                      <a16:colId xmlns:a16="http://schemas.microsoft.com/office/drawing/2014/main" val="3330435348"/>
                    </a:ext>
                  </a:extLst>
                </a:gridCol>
                <a:gridCol w="4219389">
                  <a:extLst>
                    <a:ext uri="{9D8B030D-6E8A-4147-A177-3AD203B41FA5}">
                      <a16:colId xmlns:a16="http://schemas.microsoft.com/office/drawing/2014/main" val="345425723"/>
                    </a:ext>
                  </a:extLst>
                </a:gridCol>
                <a:gridCol w="5426297">
                  <a:extLst>
                    <a:ext uri="{9D8B030D-6E8A-4147-A177-3AD203B41FA5}">
                      <a16:colId xmlns:a16="http://schemas.microsoft.com/office/drawing/2014/main" val="879923140"/>
                    </a:ext>
                  </a:extLst>
                </a:gridCol>
              </a:tblGrid>
              <a:tr h="537467">
                <a:tc>
                  <a:txBody>
                    <a:bodyPr/>
                    <a:lstStyle/>
                    <a:p>
                      <a:r>
                        <a:rPr lang="en-US" sz="2800"/>
                        <a:t>Quarter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Report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4661221"/>
                  </a:ext>
                </a:extLst>
              </a:tr>
              <a:tr h="537467">
                <a:tc>
                  <a:txBody>
                    <a:bodyPr/>
                    <a:lstStyle/>
                    <a:p>
                      <a:r>
                        <a:rPr lang="en-US" sz="2800"/>
                        <a:t>Q4 - 2023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January 8</a:t>
                      </a:r>
                      <a:r>
                        <a:rPr lang="en-US" sz="2800" baseline="30000"/>
                        <a:t>th</a:t>
                      </a:r>
                      <a:r>
                        <a:rPr lang="en-US" sz="2800"/>
                        <a:t>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Written (slides)* + Metrics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7642741"/>
                  </a:ext>
                </a:extLst>
              </a:tr>
              <a:tr h="537467">
                <a:tc>
                  <a:txBody>
                    <a:bodyPr/>
                    <a:lstStyle/>
                    <a:p>
                      <a:r>
                        <a:rPr lang="en-US" sz="2800"/>
                        <a:t>Q1 - 2024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March 27</a:t>
                      </a:r>
                      <a:r>
                        <a:rPr lang="en-US" sz="2800" baseline="30000"/>
                        <a:t>th</a:t>
                      </a:r>
                      <a:r>
                        <a:rPr lang="en-US" sz="2800"/>
                        <a:t>-28</a:t>
                      </a:r>
                      <a:r>
                        <a:rPr lang="en-US" sz="2800" baseline="30000"/>
                        <a:t>th</a:t>
                      </a:r>
                      <a:r>
                        <a:rPr lang="en-US" sz="2800"/>
                        <a:t>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Bi-annual meeting (slides + oral)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5634042"/>
                  </a:ext>
                </a:extLst>
              </a:tr>
              <a:tr h="537467">
                <a:tc>
                  <a:txBody>
                    <a:bodyPr/>
                    <a:lstStyle/>
                    <a:p>
                      <a:r>
                        <a:rPr lang="en-US" sz="2800"/>
                        <a:t>Q2 - 2024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June 28</a:t>
                      </a:r>
                      <a:r>
                        <a:rPr lang="en-US" sz="2800" baseline="30000"/>
                        <a:t>th</a:t>
                      </a:r>
                      <a:r>
                        <a:rPr lang="en-US" sz="2800"/>
                        <a:t>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Written (slides)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4632370"/>
                  </a:ext>
                </a:extLst>
              </a:tr>
              <a:tr h="537467">
                <a:tc>
                  <a:txBody>
                    <a:bodyPr/>
                    <a:lstStyle/>
                    <a:p>
                      <a:r>
                        <a:rPr lang="en-US" sz="2800"/>
                        <a:t>Q3 - 2024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Oct. 9</a:t>
                      </a:r>
                      <a:r>
                        <a:rPr lang="en-US" sz="2800" baseline="30000"/>
                        <a:t>th</a:t>
                      </a:r>
                      <a:r>
                        <a:rPr lang="en-US" sz="2800"/>
                        <a:t>-10</a:t>
                      </a:r>
                      <a:r>
                        <a:rPr lang="en-US" sz="2800" baseline="30000"/>
                        <a:t>th</a:t>
                      </a:r>
                      <a:r>
                        <a:rPr lang="en-US" sz="2800"/>
                        <a:t>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Bi-annual meeting (slides + oral)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92347"/>
                  </a:ext>
                </a:extLst>
              </a:tr>
              <a:tr h="537467">
                <a:tc>
                  <a:txBody>
                    <a:bodyPr/>
                    <a:lstStyle/>
                    <a:p>
                      <a:r>
                        <a:rPr lang="en-US" sz="2800"/>
                        <a:t>Q4 - 2024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January, 6</a:t>
                      </a:r>
                      <a:r>
                        <a:rPr lang="en-US" sz="2800" baseline="30000"/>
                        <a:t>th</a:t>
                      </a:r>
                      <a:r>
                        <a:rPr lang="en-US" sz="2800"/>
                        <a:t>,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Written (slides)* + Metrics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086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1915716"/>
      </p:ext>
    </p:extLst>
  </p:cSld>
  <p:clrMapOvr>
    <a:masterClrMapping/>
  </p:clrMapOvr>
</p:sld>
</file>

<file path=ppt/theme/theme1.xml><?xml version="1.0" encoding="utf-8"?>
<a:theme xmlns:a="http://schemas.openxmlformats.org/drawingml/2006/main" name="OSU_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000000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Presentation Template">
      <a:majorFont>
        <a:latin typeface="Book Antiqu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rgbClr val="FFFF00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rgbClr val="FFFF00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spAutoFit/>
      </a:bodyPr>
      <a:lstStyle>
        <a:defPPr>
          <a:defRPr dirty="0" smtClean="0">
            <a:solidFill>
              <a:schemeClr val="tx1"/>
            </a:solidFill>
            <a:latin typeface="+mn-lt"/>
          </a:defRPr>
        </a:defPPr>
      </a:lstStyle>
    </a:txDef>
  </a:objectDefaults>
  <a:extraClrSchemeLst>
    <a:extraClrScheme>
      <a:clrScheme name="Presentation Template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esentation Template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IBS_Widescreen.potx" id="{A66507FD-A6DE-4EA4-8AA1-7DCED506D598}" vid="{160AD2E5-874C-44CB-A0C4-5FF6AA1767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BB7CA23B735F45A2B499DBA370FE7F" ma:contentTypeVersion="18" ma:contentTypeDescription="Create a new document." ma:contentTypeScope="" ma:versionID="d9fa9f60debb44dc12b51df8746d7316">
  <xsd:schema xmlns:xsd="http://www.w3.org/2001/XMLSchema" xmlns:xs="http://www.w3.org/2001/XMLSchema" xmlns:p="http://schemas.microsoft.com/office/2006/metadata/properties" xmlns:ns2="333fd162-369a-4850-8d7b-16aeaa794114" xmlns:ns3="e9c64277-c3a5-4396-983e-cd9617f0c3fb" targetNamespace="http://schemas.microsoft.com/office/2006/metadata/properties" ma:root="true" ma:fieldsID="8b68c1b854d5c3510a6630055f462714" ns2:_="" ns3:_="">
    <xsd:import namespace="333fd162-369a-4850-8d7b-16aeaa794114"/>
    <xsd:import namespace="e9c64277-c3a5-4396-983e-cd9617f0c3f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LengthInSeconds" minOccurs="0"/>
                <xsd:element ref="ns2:MediaServiceOCR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3fd162-369a-4850-8d7b-16aeaa7941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babce5ee-ca9a-4d2a-a8e0-de529263518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c64277-c3a5-4396-983e-cd9617f0c3fb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9ed49b1f-2ac7-41e5-8d02-1bb60dec2359}" ma:internalName="TaxCatchAll" ma:showField="CatchAllData" ma:web="e9c64277-c3a5-4396-983e-cd9617f0c3f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33fd162-369a-4850-8d7b-16aeaa794114">
      <Terms xmlns="http://schemas.microsoft.com/office/infopath/2007/PartnerControls"/>
    </lcf76f155ced4ddcb4097134ff3c332f>
    <TaxCatchAll xmlns="e9c64277-c3a5-4396-983e-cd9617f0c3fb" xsi:nil="true"/>
  </documentManagement>
</p:properties>
</file>

<file path=customXml/itemProps1.xml><?xml version="1.0" encoding="utf-8"?>
<ds:datastoreItem xmlns:ds="http://schemas.openxmlformats.org/officeDocument/2006/customXml" ds:itemID="{DCC14C7A-F834-4C87-A811-F35FD775ECD5}">
  <ds:schemaRefs>
    <ds:schemaRef ds:uri="333fd162-369a-4850-8d7b-16aeaa794114"/>
    <ds:schemaRef ds:uri="e9c64277-c3a5-4396-983e-cd9617f0c3f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F92672A9-6D63-4DC6-B16B-93A1351EBE9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1C01E1-15F4-4BED-B67D-E58FB8B5345A}">
  <ds:schemaRefs>
    <ds:schemaRef ds:uri="333fd162-369a-4850-8d7b-16aeaa794114"/>
    <ds:schemaRef ds:uri="e9c64277-c3a5-4396-983e-cd9617f0c3fb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CIBS_Widescreen</Template>
  <TotalTime>0</TotalTime>
  <Words>656</Words>
  <Application>Microsoft Macintosh PowerPoint</Application>
  <PresentationFormat>Widescreen</PresentationFormat>
  <Paragraphs>98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Book Antiqua</vt:lpstr>
      <vt:lpstr>Calibri</vt:lpstr>
      <vt:lpstr>Monotype Sorts</vt:lpstr>
      <vt:lpstr>OSU_theme</vt:lpstr>
      <vt:lpstr>Reporting Template for IN-PERSON Updates</vt:lpstr>
      <vt:lpstr>Instructions (delete this slide)</vt:lpstr>
      <vt:lpstr>Project Overview (1 slide)</vt:lpstr>
      <vt:lpstr>Main Accomplishments (1 slide)</vt:lpstr>
      <vt:lpstr>Response to LIFE Feedback (if applicable)</vt:lpstr>
      <vt:lpstr>Technical Update (xx slides)</vt:lpstr>
      <vt:lpstr>Broadening Participation (1-2 slides)</vt:lpstr>
      <vt:lpstr>Outlook (6 mo. Ahead) (1 slide)</vt:lpstr>
      <vt:lpstr>Staffing and Support (1 slide)</vt:lpstr>
      <vt:lpstr>Acknowledgements (1 slide)</vt:lpstr>
      <vt:lpstr>Reference - Reporting Schedule – 2024 (delete)</vt:lpstr>
    </vt:vector>
  </TitlesOfParts>
  <Company>Oklahoma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Craig</dc:creator>
  <cp:lastModifiedBy>Trivedi, Yash</cp:lastModifiedBy>
  <cp:revision>5</cp:revision>
  <dcterms:created xsi:type="dcterms:W3CDTF">2020-12-15T15:46:54Z</dcterms:created>
  <dcterms:modified xsi:type="dcterms:W3CDTF">2025-08-20T23:35:24Z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0x01010016BB7CA23B735F45A2B499DBA370FE7F</vt:lpwstr>
  </property>
  <property fmtid="{D5CDD505-2E9C-101B-9397-08002B2CF9AE}" pid="3" name="MediaServiceImageTags">
    <vt:lpwstr/>
  </property>
</Properties>
</file>