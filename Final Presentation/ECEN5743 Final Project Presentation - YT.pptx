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4"/>
  </p:sldMasterIdLst>
  <p:notesMasterIdLst>
    <p:notesMasterId r:id="rId23"/>
  </p:notesMasterIdLst>
  <p:sldIdLst>
    <p:sldId id="256" r:id="rId5"/>
    <p:sldId id="278" r:id="rId6"/>
    <p:sldId id="279" r:id="rId7"/>
    <p:sldId id="281" r:id="rId8"/>
    <p:sldId id="280" r:id="rId9"/>
    <p:sldId id="282" r:id="rId10"/>
    <p:sldId id="283" r:id="rId11"/>
    <p:sldId id="284" r:id="rId12"/>
    <p:sldId id="285" r:id="rId13"/>
    <p:sldId id="289" r:id="rId14"/>
    <p:sldId id="287" r:id="rId15"/>
    <p:sldId id="288" r:id="rId16"/>
    <p:sldId id="290" r:id="rId17"/>
    <p:sldId id="291" r:id="rId18"/>
    <p:sldId id="292" r:id="rId19"/>
    <p:sldId id="293" r:id="rId20"/>
    <p:sldId id="295" r:id="rId21"/>
    <p:sldId id="294" r:id="rId22"/>
  </p:sldIdLst>
  <p:sldSz cx="12192000" cy="6858000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rgbClr val="FFFF00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rgbClr val="FFFF00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rgbClr val="FFFF00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rgbClr val="FFFF00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rgbClr val="FFFF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FFFF0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FFFF0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FFFF0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FFFF00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125067-A68B-2843-2282-1249CDE45B97}" name="Bradshaw, Craig" initials="CB" userId="S::craig.bradshaw@okstate.edu::fb9dac05-a5c3-4e66-8c3a-1a8d41e4f6f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dshaw, Craig" initials="BC" lastIdx="2" clrIdx="0">
    <p:extLst>
      <p:ext uri="{19B8F6BF-5375-455C-9EA6-DF929625EA0E}">
        <p15:presenceInfo xmlns:p15="http://schemas.microsoft.com/office/powerpoint/2012/main" userId="S::craig.bradshaw@okstate.edu::fb9dac05-a5c3-4e66-8c3a-1a8d41e4f6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EBE"/>
    <a:srgbClr val="F27D00"/>
    <a:srgbClr val="D9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39"/>
    <p:restoredTop sz="94802"/>
  </p:normalViewPr>
  <p:slideViewPr>
    <p:cSldViewPr snapToGrid="0">
      <p:cViewPr varScale="1">
        <p:scale>
          <a:sx n="147" d="100"/>
          <a:sy n="147" d="100"/>
        </p:scale>
        <p:origin x="10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37600-3FF5-47C7-8BA0-9F7A2802845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3D833-256C-457D-AF3F-8B6151CA8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3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35129"/>
            <a:ext cx="10363200" cy="1117596"/>
          </a:xfrm>
        </p:spPr>
        <p:txBody>
          <a:bodyPr anchor="ctr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886075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A2E5B2-5BA5-44BF-9E51-5C580D47A77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159282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BEBEBE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A7111AC-8BF5-467A-A1D3-11410D07D0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83" y="216750"/>
            <a:ext cx="7712608" cy="112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70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953000"/>
          </a:xfrm>
        </p:spPr>
        <p:txBody>
          <a:bodyPr/>
          <a:lstStyle>
            <a:lvl1pPr>
              <a:buSzPct val="75000"/>
              <a:defRPr/>
            </a:lvl1pPr>
            <a:lvl4pPr>
              <a:buSzPct val="75000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293E45-6DDD-4643-BFE5-DC9E7639859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4747947B-31C9-4166-AD4F-3F28912021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56353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58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footer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953000"/>
          </a:xfrm>
        </p:spPr>
        <p:txBody>
          <a:bodyPr/>
          <a:lstStyle>
            <a:lvl1pPr>
              <a:buSzPct val="75000"/>
              <a:defRPr/>
            </a:lvl1pPr>
            <a:lvl4pPr>
              <a:buSzPct val="75000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35507" y="6356353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46414D09-7245-48AC-9094-436365B95C54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0105594" y="6356353"/>
            <a:ext cx="1476805" cy="365125"/>
          </a:xfrm>
        </p:spPr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560853" y="6356353"/>
            <a:ext cx="5296969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CIBS 2X-XX QX Update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293E45-6DDD-4643-BFE5-DC9E7639859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C05133-A539-4461-AE69-9B8685F129C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374550" y="6240535"/>
            <a:ext cx="1067193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1DD51376-0489-4516-A48F-644C4090EC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" y="5626104"/>
            <a:ext cx="1118994" cy="109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3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_footer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953000"/>
          </a:xfrm>
        </p:spPr>
        <p:txBody>
          <a:bodyPr/>
          <a:lstStyle>
            <a:lvl1pPr>
              <a:buSzPct val="75000"/>
              <a:defRPr/>
            </a:lvl1pPr>
            <a:lvl4pPr>
              <a:buSzPct val="75000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0105594" y="6356353"/>
            <a:ext cx="1476805" cy="365125"/>
          </a:xfrm>
        </p:spPr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560853" y="6356353"/>
            <a:ext cx="5296969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CIBS 2X-XX QX Update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293E45-6DDD-4643-BFE5-DC9E7639859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C05133-A539-4461-AE69-9B8685F129C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038350" y="6226938"/>
            <a:ext cx="10008133" cy="1359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D53E5FC8-740D-4BC6-AB1E-1385ADAEE0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517" y="6211060"/>
            <a:ext cx="1724025" cy="489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DF9F989-1A5C-4FAD-9888-C381C35CFB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38349" y="6356353"/>
            <a:ext cx="2241957" cy="365125"/>
          </a:xfrm>
        </p:spPr>
        <p:txBody>
          <a:bodyPr/>
          <a:lstStyle>
            <a:lvl1pPr>
              <a:defRPr/>
            </a:lvl1pPr>
          </a:lstStyle>
          <a:p>
            <a:fld id="{EE819041-2AF7-4776-B4E6-11CB3E5FFACA}" type="datetime1">
              <a:rPr lang="en-US" smtClean="0"/>
              <a:t>4/27/26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953000"/>
          </a:xfrm>
        </p:spPr>
        <p:txBody>
          <a:bodyPr/>
          <a:lstStyle>
            <a:lvl1pPr>
              <a:buSzPct val="75000"/>
              <a:defRPr/>
            </a:lvl1pPr>
            <a:lvl4pPr>
              <a:buSzPct val="75000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067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43002"/>
            <a:ext cx="5689600" cy="502920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3002"/>
            <a:ext cx="5689600" cy="502920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79AAAD-7661-4DEE-A2A8-9D89519D878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092A72F3-2A41-4DC8-ADA1-1E437B935E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56353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3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_footer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43002"/>
            <a:ext cx="5689600" cy="502920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3002"/>
            <a:ext cx="5689600" cy="502920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79AAAD-7661-4DEE-A2A8-9D89519D878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7A36EAF-C8E5-498F-896F-BC979647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5507" y="6356353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F9F4AD3C-935A-474E-8FBE-65B2C185D148}" type="datetime1">
              <a:rPr lang="en-US" smtClean="0"/>
              <a:t>4/27/26</a:t>
            </a:fld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7C61D51D-38A7-4D97-BB19-269ABBB675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05594" y="6356353"/>
            <a:ext cx="1476805" cy="365125"/>
          </a:xfrm>
        </p:spPr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4ABB136F-B85C-4B2E-9A79-D11DBC91A7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60853" y="6356353"/>
            <a:ext cx="5296969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CIBS 2X-XX QX Update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0DDE0A-59D1-43C3-A770-FEB6CCE777D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374550" y="6240535"/>
            <a:ext cx="1067193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F20C7DCD-AA3B-418A-B930-FC599D554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" y="5626104"/>
            <a:ext cx="1118994" cy="109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7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56917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828801"/>
            <a:ext cx="5691717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143000"/>
            <a:ext cx="5689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828801"/>
            <a:ext cx="5693833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8DA387-5AC6-4197-A50F-91565486E28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9928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footer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56917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828801"/>
            <a:ext cx="5691717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143000"/>
            <a:ext cx="5689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828801"/>
            <a:ext cx="5693833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8DA387-5AC6-4197-A50F-91565486E28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25C47B2-1B88-4645-BEFA-8443E52F3B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5507" y="6356353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C5EA0F3D-85F3-498F-A3B4-A10BF0F05547}" type="datetime1">
              <a:rPr lang="en-US" smtClean="0"/>
              <a:t>4/27/26</a:t>
            </a:fld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D5D0D85-774A-44F4-936F-6A810A7345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05594" y="6356353"/>
            <a:ext cx="1476805" cy="365125"/>
          </a:xfrm>
        </p:spPr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BBBB36C5-524D-405B-9AB6-71E5FA9C16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60853" y="6356353"/>
            <a:ext cx="5296969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CIBS 2X-XX QX Update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F9EB78-8CC6-4CCE-9388-4C9D92A2972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374550" y="6240535"/>
            <a:ext cx="1067193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18" name="Picture 17" descr="A close up of a sign&#10;&#10;Description automatically generated">
            <a:extLst>
              <a:ext uri="{FF2B5EF4-FFF2-40B4-BE49-F238E27FC236}">
                <a16:creationId xmlns:a16="http://schemas.microsoft.com/office/drawing/2014/main" id="{23BF85A4-CD47-446E-B572-DD04271F8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" y="5626104"/>
            <a:ext cx="1118994" cy="109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3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361871-CE09-4385-A5EA-B0F95608527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9600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footer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361871-CE09-4385-A5EA-B0F95608527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98F918A-1609-43B8-913F-980F8C8C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5507" y="6356353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83C32B5B-FB51-42BB-8A68-CE1ABAB6E56C}" type="datetime1">
              <a:rPr lang="en-US" smtClean="0"/>
              <a:t>4/27/26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C582425-C7E4-4572-B8DC-E1D7742A09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05594" y="6356353"/>
            <a:ext cx="1476805" cy="365125"/>
          </a:xfrm>
        </p:spPr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78E5D942-B418-4E06-9F14-CD74C2F207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60853" y="6356353"/>
            <a:ext cx="5296969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CIBS 2X-XX QX Update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9B2E8D-1131-4305-AC47-16CC354A6C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374550" y="6240535"/>
            <a:ext cx="1067193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63EFC24C-9EEB-4423-9BA6-F7CADCE812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" y="5626104"/>
            <a:ext cx="1118994" cy="109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31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878176-73F4-45B5-B8D9-81C3A6FF470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00906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296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0613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19DD3F-A821-435F-AA2A-946225774DF4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E5BCCF-FA65-4A39-A08E-3A00476076F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CIBS 2X-XX QX Update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6858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CDF00B-6AAD-4A13-BD5C-2B86803D3DB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53383" y="991092"/>
            <a:ext cx="118931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27D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08850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1600"/>
            <a:ext cx="10972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566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smtClean="0">
                <a:solidFill>
                  <a:schemeClr val="tx1">
                    <a:tint val="75000"/>
                  </a:schemeClr>
                </a:solidFill>
                <a:latin typeface="+mn-lt"/>
                <a:ea typeface="DejaVu Sans Condensed" panose="020B0606030804020204" pitchFamily="34" charset="0"/>
                <a:cs typeface="DejaVu Sans Condensed" panose="020B0606030804020204" pitchFamily="34" charset="0"/>
              </a:defRPr>
            </a:lvl1pPr>
          </a:lstStyle>
          <a:p>
            <a:fld id="{9DF946B4-8C84-48F7-9927-B119646062D2}" type="datetime1">
              <a:rPr lang="en-US" smtClean="0"/>
              <a:t>4/27/26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DejaVu Sans Condensed" panose="020B0606030804020204" pitchFamily="34" charset="0"/>
                <a:cs typeface="DejaVu Sans Condensed" panose="020B0606030804020204" pitchFamily="34" charset="0"/>
              </a:defRPr>
            </a:lvl1pPr>
          </a:lstStyle>
          <a:p>
            <a:r>
              <a:rPr lang="en-US"/>
              <a:t>CIBS 2X-XX QX Update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smtClean="0">
                <a:solidFill>
                  <a:schemeClr val="tx1">
                    <a:tint val="75000"/>
                  </a:schemeClr>
                </a:solidFill>
                <a:latin typeface="+mn-lt"/>
                <a:ea typeface="DejaVu Sans Condensed" panose="020B0606030804020204" pitchFamily="34" charset="0"/>
                <a:cs typeface="DejaVu Sans Condensed" panose="020B0606030804020204" pitchFamily="34" charset="0"/>
              </a:defRPr>
            </a:lvl1pPr>
          </a:lstStyle>
          <a:p>
            <a:fld id="{E0E5BCCF-FA65-4A39-A08E-3A00476076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9" r:id="rId4"/>
    <p:sldLayoutId id="2147483663" r:id="rId5"/>
    <p:sldLayoutId id="2147483665" r:id="rId6"/>
    <p:sldLayoutId id="2147483676" r:id="rId7"/>
    <p:sldLayoutId id="2147483666" r:id="rId8"/>
    <p:sldLayoutId id="2147483677" r:id="rId9"/>
    <p:sldLayoutId id="2147483667" r:id="rId10"/>
    <p:sldLayoutId id="2147483678" r:id="rId11"/>
    <p:sldLayoutId id="2147483668" r:id="rId12"/>
    <p:sldLayoutId id="2147483669" r:id="rId13"/>
    <p:sldLayoutId id="2147483671" r:id="rId14"/>
    <p:sldLayoutId id="2147483672" r:id="rId1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n-lt"/>
          <a:ea typeface="DejaVu Sans Condensed" panose="020B0606030804020204" pitchFamily="34" charset="0"/>
          <a:cs typeface="DejaVu Sans Condensed" panose="020B0606030804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DejaVu Sans Condensed" panose="020B0606030804020204" pitchFamily="34" charset="0"/>
          <a:cs typeface="DejaVu Sans Condensed" panose="020B0606030804020204" pitchFamily="34" charset="0"/>
        </a:defRPr>
      </a:lvl1pPr>
      <a:lvl2pPr marL="742950" indent="-28575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+mn-lt"/>
          <a:ea typeface="DejaVu Sans Condensed" panose="020B0606030804020204" pitchFamily="34" charset="0"/>
          <a:cs typeface="DejaVu Sans Condensed" panose="020B0606030804020204" pitchFamily="34" charset="0"/>
        </a:defRPr>
      </a:lvl2pPr>
      <a:lvl3pPr marL="11430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sz="2400">
          <a:solidFill>
            <a:schemeClr val="tx1"/>
          </a:solidFill>
          <a:latin typeface="+mn-lt"/>
          <a:ea typeface="DejaVu Sans Condensed" panose="020B0606030804020204" pitchFamily="34" charset="0"/>
          <a:cs typeface="DejaVu Sans Condensed" panose="020B06060308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Monotype Sorts" pitchFamily="2" charset="2"/>
        <a:buChar char="l"/>
        <a:defRPr sz="2400">
          <a:solidFill>
            <a:schemeClr val="tx1"/>
          </a:solidFill>
          <a:latin typeface="+mn-lt"/>
          <a:ea typeface="DejaVu Sans Condensed" panose="020B0606030804020204" pitchFamily="34" charset="0"/>
          <a:cs typeface="DejaVu Sans Condensed" panose="020B06060308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+mn-lt"/>
          <a:ea typeface="DejaVu Sans Condensed" panose="020B0606030804020204" pitchFamily="34" charset="0"/>
          <a:cs typeface="DejaVu Sans Condensed" panose="020B0606030804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061/dryad.ksn02v7h2" TargetMode="External"/><Relationship Id="rId2" Type="http://schemas.openxmlformats.org/officeDocument/2006/relationships/hyperlink" Target="https://doi.org/10.48550/arXiv.1512.03385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oi.org/10.1016/j.ijheatmasstransfer.2025.126829" TargetMode="External"/><Relationship Id="rId4" Type="http://schemas.openxmlformats.org/officeDocument/2006/relationships/hyperlink" Target="https://doi.org/10.1016/j.applthermaleng.2024.125259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21D1F6-8101-4481-9C8D-6C4F40B90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870202"/>
            <a:ext cx="10363200" cy="1117596"/>
          </a:xfrm>
        </p:spPr>
        <p:txBody>
          <a:bodyPr/>
          <a:lstStyle/>
          <a:p>
            <a:r>
              <a:rPr lang="en-US" b="1" dirty="0"/>
              <a:t>CNN–based Prediction of </a:t>
            </a:r>
            <a:r>
              <a:rPr lang="en-US" dirty="0"/>
              <a:t>B</a:t>
            </a:r>
            <a:r>
              <a:rPr lang="en-US" b="1" dirty="0"/>
              <a:t>oiling Heat Transfer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24A624B-C228-434C-B926-6BE023CB3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9" y="4192858"/>
            <a:ext cx="10142375" cy="2417373"/>
          </a:xfrm>
        </p:spPr>
        <p:txBody>
          <a:bodyPr/>
          <a:lstStyle/>
          <a:p>
            <a:r>
              <a:rPr lang="en-US" sz="2000" dirty="0"/>
              <a:t>Yash Trivedi (yash.trivedi@okstate.edu)</a:t>
            </a:r>
          </a:p>
        </p:txBody>
      </p:sp>
    </p:spTree>
    <p:extLst>
      <p:ext uri="{BB962C8B-B14F-4D97-AF65-F5344CB8AC3E}">
        <p14:creationId xmlns:p14="http://schemas.microsoft.com/office/powerpoint/2010/main" val="390368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A974-D645-3A64-AE73-E1CB21AD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Introduction to Boiling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4458B-7773-9107-10B4-DD649C5E1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5296969" cy="4953000"/>
          </a:xfrm>
        </p:spPr>
        <p:txBody>
          <a:bodyPr/>
          <a:lstStyle/>
          <a:p>
            <a:r>
              <a:rPr lang="en-US" sz="2400" dirty="0"/>
              <a:t>Heat transfer is a limiting design factor in many high-energy systems</a:t>
            </a:r>
          </a:p>
          <a:p>
            <a:r>
              <a:rPr lang="en-US" sz="2400" dirty="0"/>
              <a:t>Typical cooling strategies include forcing air/liquid over a heat source</a:t>
            </a:r>
          </a:p>
          <a:p>
            <a:pPr lvl="1"/>
            <a:r>
              <a:rPr lang="en-US" sz="2000" dirty="0"/>
              <a:t>Convective heat transfer can carry energy away from heat sources </a:t>
            </a:r>
          </a:p>
          <a:p>
            <a:r>
              <a:rPr lang="en-US" sz="2400" dirty="0"/>
              <a:t>Much more effective to boil a cooling fluid and take advantage of latent heat</a:t>
            </a:r>
          </a:p>
          <a:p>
            <a:pPr lvl="1"/>
            <a:r>
              <a:rPr lang="en-US" sz="2000" dirty="0"/>
              <a:t>10-100x better heat transfer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CC6DD-2AD3-3F92-8CDA-68D9BCA84C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2</a:t>
            </a:fld>
            <a:endParaRPr lang="en-US"/>
          </a:p>
        </p:txBody>
      </p:sp>
      <p:pic>
        <p:nvPicPr>
          <p:cNvPr id="6" name="Boiling-91_NB.mp4">
            <a:hlinkClick r:id="" action="ppaction://media"/>
            <a:extLst>
              <a:ext uri="{FF2B5EF4-FFF2-40B4-BE49-F238E27FC236}">
                <a16:creationId xmlns:a16="http://schemas.microsoft.com/office/drawing/2014/main" id="{D6EC3577-8DE1-B1FD-5FD3-BC3C9BB038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79531" y="1327924"/>
            <a:ext cx="5602868" cy="420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2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6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641C6-34A7-9FDE-96DA-E577B6945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E9DD49-D271-0AEF-2BF0-131F88805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476" y="1929652"/>
            <a:ext cx="6148724" cy="4166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566903-0DDA-7C2E-D537-8DBD146E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Introduction to Boiling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1F0FE-4811-D02A-AB8C-144A7E53A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5296969" cy="4953000"/>
          </a:xfrm>
        </p:spPr>
        <p:txBody>
          <a:bodyPr/>
          <a:lstStyle/>
          <a:p>
            <a:r>
              <a:rPr lang="en-US" sz="2400" dirty="0"/>
              <a:t>Plot of boiling heat transfer</a:t>
            </a:r>
          </a:p>
          <a:p>
            <a:pPr lvl="1"/>
            <a:r>
              <a:rPr lang="en-US" sz="2000" dirty="0"/>
              <a:t>Y-axis is heat transfer</a:t>
            </a:r>
          </a:p>
          <a:p>
            <a:pPr lvl="1"/>
            <a:r>
              <a:rPr lang="en-US" sz="2000" dirty="0"/>
              <a:t>X-axis is temperature difference between fluid and surface</a:t>
            </a:r>
          </a:p>
          <a:p>
            <a:r>
              <a:rPr lang="en-US" sz="2400" dirty="0"/>
              <a:t>Boiling takes place in different “regimes” based off conditions</a:t>
            </a:r>
          </a:p>
          <a:p>
            <a:pPr lvl="1"/>
            <a:r>
              <a:rPr lang="en-US" sz="2000" dirty="0"/>
              <a:t>Early regimes are more stable and safer to operate in, but relatively low heat transfer</a:t>
            </a:r>
          </a:p>
          <a:p>
            <a:pPr lvl="1"/>
            <a:r>
              <a:rPr lang="en-US" sz="2000" dirty="0"/>
              <a:t>Late regimes offer much higher heat transfer, but very unstable and unpredictable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45DDE-3F8C-8E27-1D28-AE3385A01C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78819-1511-4431-FA76-D76C4899AD38}"/>
              </a:ext>
            </a:extLst>
          </p:cNvPr>
          <p:cNvSpPr txBox="1"/>
          <p:nvPr/>
        </p:nvSpPr>
        <p:spPr>
          <a:xfrm>
            <a:off x="6998644" y="1244389"/>
            <a:ext cx="938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Good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CE860-A26F-5A33-1111-33B967AD819E}"/>
              </a:ext>
            </a:extLst>
          </p:cNvPr>
          <p:cNvSpPr txBox="1"/>
          <p:nvPr/>
        </p:nvSpPr>
        <p:spPr>
          <a:xfrm>
            <a:off x="9840806" y="1242746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Bad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B761340-0679-8AED-BB41-8F525FD0CBCA}"/>
              </a:ext>
            </a:extLst>
          </p:cNvPr>
          <p:cNvSpPr/>
          <p:nvPr/>
        </p:nvSpPr>
        <p:spPr bwMode="auto">
          <a:xfrm rot="5400000">
            <a:off x="7269154" y="724499"/>
            <a:ext cx="260353" cy="2279223"/>
          </a:xfrm>
          <a:prstGeom prst="lef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Arial" charset="0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8C1983E7-C242-CE9F-4C48-B4DEDEAE63D8}"/>
              </a:ext>
            </a:extLst>
          </p:cNvPr>
          <p:cNvSpPr/>
          <p:nvPr/>
        </p:nvSpPr>
        <p:spPr bwMode="auto">
          <a:xfrm rot="5400000">
            <a:off x="10144947" y="401825"/>
            <a:ext cx="265176" cy="2929394"/>
          </a:xfrm>
          <a:prstGeom prst="lef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445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A83BF-83C9-CFEE-6FDF-50263768F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8B44-0C6E-9ADA-C916-F7F512F0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Introduction to Boiling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4737F-2E46-9C98-77CE-5375E35038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4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08DC51-1904-41D1-1366-53B9FDF0C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47332"/>
            <a:ext cx="2644238" cy="3657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E658A3-75C3-7DF0-5428-E79E2DFCC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484" y="2347332"/>
            <a:ext cx="2596737" cy="3657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5D688C-4BBC-035B-931D-413F265F5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781" y="2347332"/>
            <a:ext cx="2622728" cy="3657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9DC4699-2380-7413-B58F-A707190BC5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488" y="2347332"/>
            <a:ext cx="2635045" cy="3657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847D14A-31DA-B7C3-B343-CE81B3AC4881}"/>
              </a:ext>
            </a:extLst>
          </p:cNvPr>
          <p:cNvSpPr txBox="1"/>
          <p:nvPr/>
        </p:nvSpPr>
        <p:spPr>
          <a:xfrm>
            <a:off x="304800" y="1147003"/>
            <a:ext cx="264423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Natural Convection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Boiling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11BF70-3509-90E1-16FE-D36A88581884}"/>
              </a:ext>
            </a:extLst>
          </p:cNvPr>
          <p:cNvSpPr txBox="1"/>
          <p:nvPr/>
        </p:nvSpPr>
        <p:spPr>
          <a:xfrm>
            <a:off x="3262482" y="1340624"/>
            <a:ext cx="2596738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Early Nucleate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Boiling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903D66-A270-FEEB-1F59-997B7279E656}"/>
              </a:ext>
            </a:extLst>
          </p:cNvPr>
          <p:cNvSpPr txBox="1"/>
          <p:nvPr/>
        </p:nvSpPr>
        <p:spPr>
          <a:xfrm>
            <a:off x="6332781" y="1340623"/>
            <a:ext cx="2622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Late Nucleate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Boiling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AFA3B4-DE56-CB7B-A2B2-2F44077E94BA}"/>
              </a:ext>
            </a:extLst>
          </p:cNvPr>
          <p:cNvSpPr txBox="1"/>
          <p:nvPr/>
        </p:nvSpPr>
        <p:spPr>
          <a:xfrm>
            <a:off x="9332487" y="1331668"/>
            <a:ext cx="2635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Near CHF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Boiling</a:t>
            </a:r>
          </a:p>
        </p:txBody>
      </p:sp>
      <p:sp>
        <p:nvSpPr>
          <p:cNvPr id="25" name="Curved Up Arrow 24">
            <a:extLst>
              <a:ext uri="{FF2B5EF4-FFF2-40B4-BE49-F238E27FC236}">
                <a16:creationId xmlns:a16="http://schemas.microsoft.com/office/drawing/2014/main" id="{7A4C13A1-E5C2-4F25-70DD-3DB5B365240C}"/>
              </a:ext>
            </a:extLst>
          </p:cNvPr>
          <p:cNvSpPr/>
          <p:nvPr/>
        </p:nvSpPr>
        <p:spPr bwMode="auto">
          <a:xfrm>
            <a:off x="1303153" y="4661209"/>
            <a:ext cx="793278" cy="384717"/>
          </a:xfrm>
          <a:prstGeom prst="curvedUpArrow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Arial" charset="0"/>
            </a:endParaRPr>
          </a:p>
        </p:txBody>
      </p:sp>
      <p:sp>
        <p:nvSpPr>
          <p:cNvPr id="26" name="Curved Up Arrow 25">
            <a:extLst>
              <a:ext uri="{FF2B5EF4-FFF2-40B4-BE49-F238E27FC236}">
                <a16:creationId xmlns:a16="http://schemas.microsoft.com/office/drawing/2014/main" id="{7C99DFA7-9C92-663B-7C7A-84981DA234A3}"/>
              </a:ext>
            </a:extLst>
          </p:cNvPr>
          <p:cNvSpPr/>
          <p:nvPr/>
        </p:nvSpPr>
        <p:spPr bwMode="auto">
          <a:xfrm rot="10800000">
            <a:off x="1303153" y="2927195"/>
            <a:ext cx="793278" cy="384717"/>
          </a:xfrm>
          <a:prstGeom prst="curvedUpArrow">
            <a:avLst/>
          </a:pr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14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F7C3-4474-A92D-3BBE-86B2E0BCA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F1CF-D897-97C3-41E2-AC2FEB20C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Introduction to Boiling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53AC5-6E25-D4A7-C63C-D1AB28299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4757854" cy="4953000"/>
          </a:xfrm>
        </p:spPr>
        <p:txBody>
          <a:bodyPr/>
          <a:lstStyle/>
          <a:p>
            <a:r>
              <a:rPr lang="en-US" sz="2400" dirty="0"/>
              <a:t>Video shows unstable bubble growth and departure as boiling approaches critical heat flux</a:t>
            </a:r>
          </a:p>
          <a:p>
            <a:r>
              <a:rPr lang="en-US" sz="2400" dirty="0"/>
              <a:t>Visually different to early boiling regimes</a:t>
            </a:r>
          </a:p>
          <a:p>
            <a:r>
              <a:rPr lang="en-US" sz="2400" dirty="0"/>
              <a:t>Visual differences open opportunities to use CNNs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BB312-2F30-1AC0-60FC-81CE802ADC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5</a:t>
            </a:fld>
            <a:endParaRPr lang="en-US"/>
          </a:p>
        </p:txBody>
      </p:sp>
      <p:pic>
        <p:nvPicPr>
          <p:cNvPr id="7" name="Boiling-91_nearCHF.mp4">
            <a:hlinkClick r:id="" action="ppaction://media"/>
            <a:extLst>
              <a:ext uri="{FF2B5EF4-FFF2-40B4-BE49-F238E27FC236}">
                <a16:creationId xmlns:a16="http://schemas.microsoft.com/office/drawing/2014/main" id="{6E24846E-AC15-CC3C-140A-AF6AAE3FD8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34877" y="1239179"/>
            <a:ext cx="6347522" cy="47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5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37963-7BAA-4B39-2B25-098AB92A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9BC6-2485-DDEB-7D10-5F923AB3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Target Metric for CNN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70ED3-0FAE-ADF0-00A5-3278B00C9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11582400" cy="4953000"/>
              </a:xfrm>
            </p:spPr>
            <p:txBody>
              <a:bodyPr/>
              <a:lstStyle/>
              <a:p>
                <a:r>
                  <a:rPr lang="en-US" sz="2400" dirty="0"/>
                  <a:t>As mentioned, it is beneficial to operate near CHF but important to understand instabilities to operate safely</a:t>
                </a:r>
              </a:p>
              <a:p>
                <a:r>
                  <a:rPr lang="en-US" sz="2400" dirty="0"/>
                  <a:t>Existing CNN-based work exists to predict heat transfer and CHF, but we define a new metric: </a:t>
                </a:r>
                <a:r>
                  <a:rPr lang="en-US" sz="2400" b="1" dirty="0"/>
                  <a:t>CHF Proximity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𝐶𝐻𝐹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𝑤𝑎𝑙𝑙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  <m:t>𝑤𝑎𝑙𝑙</m:t>
                                  </m:r>
                                </m:sub>
                              </m:sSub>
                              <m:r>
                                <a:rPr lang="en-US" sz="32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3200" b="0" i="1">
                                      <a:latin typeface="Cambria Math" panose="02040503050406030204" pitchFamily="18" charset="0"/>
                                    </a:rPr>
                                    <m:t>𝑠𝑎𝑡</m:t>
                                  </m:r>
                                </m:sub>
                              </m:s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𝐶𝐻𝐹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70ED3-0FAE-ADF0-00A5-3278B00C9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11582400" cy="4953000"/>
              </a:xfrm>
              <a:blipFill>
                <a:blip r:embed="rId2"/>
                <a:stretch>
                  <a:fillRect l="-219" t="-256"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37E03-3D14-321F-0538-E5C3580BE1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52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2CA1E-4B68-21A6-64F7-9BF9002C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A995-1FCB-07C4-730A-BC89A681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25D44-CD79-E9CE-3F17-10D55BF1C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11582399" cy="4953000"/>
          </a:xfrm>
        </p:spPr>
        <p:txBody>
          <a:bodyPr/>
          <a:lstStyle/>
          <a:p>
            <a:r>
              <a:rPr lang="en-US" sz="2400" dirty="0"/>
              <a:t>Data from: “Unveiling hysteresis of transient boiling: A multimodal perspective”</a:t>
            </a:r>
          </a:p>
          <a:p>
            <a:pPr lvl="1"/>
            <a:r>
              <a:rPr lang="en-US" sz="2000" dirty="0"/>
              <a:t>Published by Pandey et. al, in 2025</a:t>
            </a:r>
          </a:p>
          <a:p>
            <a:pPr lvl="1"/>
            <a:r>
              <a:rPr lang="en-US" sz="2000" dirty="0"/>
              <a:t>Study to understand how boiling is different when ramping up and down in power using visual, audio, and temperature data</a:t>
            </a:r>
          </a:p>
          <a:p>
            <a:r>
              <a:rPr lang="en-US" sz="2400" dirty="0"/>
              <a:t>Produced and published two full videos of boiling ramping up to CHF and back down, along with all temperature data</a:t>
            </a:r>
          </a:p>
          <a:p>
            <a:pPr lvl="1"/>
            <a:r>
              <a:rPr lang="en-US" sz="2000" dirty="0"/>
              <a:t>Boiling_84: Deionized water on a copper foam surface</a:t>
            </a:r>
          </a:p>
          <a:p>
            <a:pPr lvl="1"/>
            <a:r>
              <a:rPr lang="en-US" sz="2000" dirty="0"/>
              <a:t>Boiling_91: Deionized water on a smooth copper surface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92D66-9F85-BC3C-1A6A-8F940D1008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42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DE7D-DE78-977B-FFCC-D238DAA2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08F5-3E00-2940-4942-2CB9D8FE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A0BC-DC5D-2927-730D-5994DFD69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11582399" cy="4953000"/>
          </a:xfrm>
        </p:spPr>
        <p:txBody>
          <a:bodyPr/>
          <a:lstStyle/>
          <a:p>
            <a:r>
              <a:rPr lang="en-US" sz="2400" dirty="0"/>
              <a:t>Needed to create dataset of images and temperature points that are lined up</a:t>
            </a:r>
          </a:p>
          <a:p>
            <a:pPr lvl="1"/>
            <a:r>
              <a:rPr lang="en-US" sz="2000" dirty="0"/>
              <a:t>Boiling_84: 45 minutes at 60fps, 1.5 million temperature points</a:t>
            </a:r>
          </a:p>
          <a:p>
            <a:pPr lvl="1"/>
            <a:r>
              <a:rPr lang="en-US" sz="2000" dirty="0"/>
              <a:t>Boiling_91: 32 minutes at 60 fps, 1 million temperature points</a:t>
            </a:r>
          </a:p>
          <a:p>
            <a:r>
              <a:rPr lang="en-US" sz="2400" dirty="0"/>
              <a:t>Original dataset was far too data dense, so down-sampling was done</a:t>
            </a:r>
          </a:p>
          <a:p>
            <a:r>
              <a:rPr lang="en-US" sz="2400" dirty="0"/>
              <a:t>Python script created to chop up raw data and created linked image frame at every temperature point</a:t>
            </a:r>
          </a:p>
          <a:p>
            <a:r>
              <a:rPr lang="en-US" sz="2400" dirty="0"/>
              <a:t>Resulting in 1200 data points from each set from zero boiling up to CHF</a:t>
            </a:r>
          </a:p>
          <a:p>
            <a:r>
              <a:rPr lang="en-US" sz="2400" dirty="0"/>
              <a:t>One set for training, one set for testing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71A1C-3656-6E9F-1E64-E04D9F2A6D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A27E-ABCF-7791-D21D-262F1718E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380A-97EF-1F1B-35FF-1906F470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Data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984FF-64CC-0738-A441-60D2A5AEBC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C12347-9107-D50D-0621-58A973C42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57" y="1042265"/>
            <a:ext cx="5108343" cy="23867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1ACC10-AB92-AAAE-C127-A9A40EAFC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57" y="3573814"/>
            <a:ext cx="5108343" cy="23952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F0BC4B-B664-2F24-1480-4F3F81CE2D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9" r="14512"/>
          <a:stretch>
            <a:fillRect/>
          </a:stretch>
        </p:blipFill>
        <p:spPr>
          <a:xfrm>
            <a:off x="7012142" y="1214808"/>
            <a:ext cx="4192201" cy="479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8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888A-07D6-1901-2CFE-D5B9C886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Network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699F-AF59-57CA-25B4-CB27F0DB6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953000"/>
          </a:xfrm>
        </p:spPr>
        <p:txBody>
          <a:bodyPr/>
          <a:lstStyle/>
          <a:p>
            <a:r>
              <a:rPr lang="en-US" sz="2400" dirty="0"/>
              <a:t>Decided to go with ResNet-18 (reasoning shown in next slides)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8A28D-0977-F637-2337-19C41F832D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FDF19-9454-E9CF-91BE-754EDC697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42" b="9693"/>
          <a:stretch>
            <a:fillRect/>
          </a:stretch>
        </p:blipFill>
        <p:spPr>
          <a:xfrm>
            <a:off x="762162" y="1839950"/>
            <a:ext cx="10667676" cy="415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03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B368-B6DB-979C-A816-CEB77951C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BE9D-7AA4-AE98-D224-541D9450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CNN Network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48F67-9E21-CBCC-A211-FA443281B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11582399" cy="4953000"/>
          </a:xfrm>
        </p:spPr>
        <p:txBody>
          <a:bodyPr/>
          <a:lstStyle/>
          <a:p>
            <a:r>
              <a:rPr lang="en-US" sz="2400" dirty="0"/>
              <a:t>Dataset is relatively small, likely insufficient to train a custom model</a:t>
            </a:r>
          </a:p>
          <a:p>
            <a:r>
              <a:rPr lang="en-US" sz="2400" dirty="0"/>
              <a:t>Chose to use a pretrained model, perform training on pretrained weights</a:t>
            </a:r>
          </a:p>
          <a:p>
            <a:pPr lvl="1"/>
            <a:r>
              <a:rPr lang="en-US" sz="2000" dirty="0" err="1"/>
              <a:t>AlexNet</a:t>
            </a:r>
            <a:endParaRPr lang="en-US" sz="2000" dirty="0"/>
          </a:p>
          <a:p>
            <a:pPr lvl="1"/>
            <a:r>
              <a:rPr lang="en-US" sz="2000" dirty="0" err="1"/>
              <a:t>ResNet</a:t>
            </a:r>
            <a:endParaRPr lang="en-US" sz="2000" dirty="0"/>
          </a:p>
          <a:p>
            <a:pPr lvl="1"/>
            <a:r>
              <a:rPr lang="en-US" sz="2000" dirty="0" err="1"/>
              <a:t>InceptionNet</a:t>
            </a:r>
            <a:endParaRPr lang="en-US" sz="2000" dirty="0"/>
          </a:p>
          <a:p>
            <a:pPr lvl="1"/>
            <a:r>
              <a:rPr lang="en-US" sz="2000" dirty="0"/>
              <a:t>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7199E-B81C-BF5A-323E-21672BAFD1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F062AE-0F8B-F3A1-5363-64CE952D8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13091"/>
              </p:ext>
            </p:extLst>
          </p:nvPr>
        </p:nvGraphicFramePr>
        <p:xfrm>
          <a:off x="5326563" y="2386361"/>
          <a:ext cx="6255836" cy="35572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127918">
                  <a:extLst>
                    <a:ext uri="{9D8B030D-6E8A-4147-A177-3AD203B41FA5}">
                      <a16:colId xmlns:a16="http://schemas.microsoft.com/office/drawing/2014/main" val="185113617"/>
                    </a:ext>
                  </a:extLst>
                </a:gridCol>
                <a:gridCol w="3127918">
                  <a:extLst>
                    <a:ext uri="{9D8B030D-6E8A-4147-A177-3AD203B41FA5}">
                      <a16:colId xmlns:a16="http://schemas.microsoft.com/office/drawing/2014/main" val="2326312654"/>
                    </a:ext>
                  </a:extLst>
                </a:gridCol>
              </a:tblGrid>
              <a:tr h="71144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CNN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Model F1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701744"/>
                  </a:ext>
                </a:extLst>
              </a:tr>
              <a:tr h="71144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Basic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91.11%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348790"/>
                  </a:ext>
                </a:extLst>
              </a:tr>
              <a:tr h="71144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AlexNet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98.87%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696412"/>
                  </a:ext>
                </a:extLst>
              </a:tr>
              <a:tr h="71144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ResNet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96.50%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218710"/>
                  </a:ext>
                </a:extLst>
              </a:tr>
              <a:tr h="71144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InceptionNet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94.23%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62935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20870F1-A0D3-179F-44A5-2F8A5206474F}"/>
              </a:ext>
            </a:extLst>
          </p:cNvPr>
          <p:cNvSpPr txBox="1"/>
          <p:nvPr/>
        </p:nvSpPr>
        <p:spPr>
          <a:xfrm>
            <a:off x="304799" y="4379721"/>
            <a:ext cx="47169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Classification of boiling regimes, fluids, and heating surfaces through deep learning algorithms and image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Published by Paz et. al, in 2025</a:t>
            </a:r>
          </a:p>
          <a:p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2E798B-8C23-C19B-746E-ABC5CD64A9FB}"/>
              </a:ext>
            </a:extLst>
          </p:cNvPr>
          <p:cNvCxnSpPr/>
          <p:nvPr/>
        </p:nvCxnSpPr>
        <p:spPr bwMode="auto">
          <a:xfrm flipV="1">
            <a:off x="3921512" y="3858322"/>
            <a:ext cx="1252652" cy="5213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35954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2C483-F6EF-E319-165E-2831AE7E6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E302E-F4C0-6CB9-0057-DFB4196B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Testing different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5CDF4-4D4D-68DD-99A0-D89BD244D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11582399" cy="4953000"/>
          </a:xfrm>
        </p:spPr>
        <p:txBody>
          <a:bodyPr/>
          <a:lstStyle/>
          <a:p>
            <a:r>
              <a:rPr lang="en-US" sz="2400" dirty="0"/>
              <a:t>Results of my own network experimentation: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B0C49-3BCF-4300-3729-B0BB5FDE34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D062D9A-7447-A966-8C02-0B740C540F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485019"/>
                  </p:ext>
                </p:extLst>
              </p:nvPr>
            </p:nvGraphicFramePr>
            <p:xfrm>
              <a:off x="1195320" y="2157760"/>
              <a:ext cx="9801355" cy="3557240"/>
            </p:xfrm>
            <a:graphic>
              <a:graphicData uri="http://schemas.openxmlformats.org/drawingml/2006/table">
                <a:tbl>
                  <a:tblPr firstRow="1" bandRow="1">
                    <a:tableStyleId>{10A1B5D5-9B99-4C35-A422-299274C87663}</a:tableStyleId>
                  </a:tblPr>
                  <a:tblGrid>
                    <a:gridCol w="1960271">
                      <a:extLst>
                        <a:ext uri="{9D8B030D-6E8A-4147-A177-3AD203B41FA5}">
                          <a16:colId xmlns:a16="http://schemas.microsoft.com/office/drawing/2014/main" val="185113617"/>
                        </a:ext>
                      </a:extLst>
                    </a:gridCol>
                    <a:gridCol w="1960271">
                      <a:extLst>
                        <a:ext uri="{9D8B030D-6E8A-4147-A177-3AD203B41FA5}">
                          <a16:colId xmlns:a16="http://schemas.microsoft.com/office/drawing/2014/main" val="2326312654"/>
                        </a:ext>
                      </a:extLst>
                    </a:gridCol>
                    <a:gridCol w="1960271">
                      <a:extLst>
                        <a:ext uri="{9D8B030D-6E8A-4147-A177-3AD203B41FA5}">
                          <a16:colId xmlns:a16="http://schemas.microsoft.com/office/drawing/2014/main" val="1532585633"/>
                        </a:ext>
                      </a:extLst>
                    </a:gridCol>
                    <a:gridCol w="1960271">
                      <a:extLst>
                        <a:ext uri="{9D8B030D-6E8A-4147-A177-3AD203B41FA5}">
                          <a16:colId xmlns:a16="http://schemas.microsoft.com/office/drawing/2014/main" val="1504081075"/>
                        </a:ext>
                      </a:extLst>
                    </a:gridCol>
                    <a:gridCol w="1960271">
                      <a:extLst>
                        <a:ext uri="{9D8B030D-6E8A-4147-A177-3AD203B41FA5}">
                          <a16:colId xmlns:a16="http://schemas.microsoft.com/office/drawing/2014/main" val="542561007"/>
                        </a:ext>
                      </a:extLst>
                    </a:gridCol>
                  </a:tblGrid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CNN Architecture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Best MAE (%)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RMSE (%)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Correlation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0701744"/>
                      </a:ext>
                    </a:extLst>
                  </a:tr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 err="1"/>
                            <a:t>AlexNet</a:t>
                          </a:r>
                          <a:endParaRPr 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13.5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23.6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0.429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0.789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89696412"/>
                      </a:ext>
                    </a:extLst>
                  </a:tr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ResNet-18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11.3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21.9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0.505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0.792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8218710"/>
                      </a:ext>
                    </a:extLst>
                  </a:tr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ResNet-34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13.9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24.4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0.388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0.737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6316793"/>
                      </a:ext>
                    </a:extLst>
                  </a:tr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EfficientNet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21.7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0.514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0.796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62935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D062D9A-7447-A966-8C02-0B740C540F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485019"/>
                  </p:ext>
                </p:extLst>
              </p:nvPr>
            </p:nvGraphicFramePr>
            <p:xfrm>
              <a:off x="1195320" y="2157760"/>
              <a:ext cx="9801355" cy="3557240"/>
            </p:xfrm>
            <a:graphic>
              <a:graphicData uri="http://schemas.openxmlformats.org/drawingml/2006/table">
                <a:tbl>
                  <a:tblPr firstRow="1" bandRow="1">
                    <a:tableStyleId>{10A1B5D5-9B99-4C35-A422-299274C87663}</a:tableStyleId>
                  </a:tblPr>
                  <a:tblGrid>
                    <a:gridCol w="1960271">
                      <a:extLst>
                        <a:ext uri="{9D8B030D-6E8A-4147-A177-3AD203B41FA5}">
                          <a16:colId xmlns:a16="http://schemas.microsoft.com/office/drawing/2014/main" val="185113617"/>
                        </a:ext>
                      </a:extLst>
                    </a:gridCol>
                    <a:gridCol w="1960271">
                      <a:extLst>
                        <a:ext uri="{9D8B030D-6E8A-4147-A177-3AD203B41FA5}">
                          <a16:colId xmlns:a16="http://schemas.microsoft.com/office/drawing/2014/main" val="2326312654"/>
                        </a:ext>
                      </a:extLst>
                    </a:gridCol>
                    <a:gridCol w="1960271">
                      <a:extLst>
                        <a:ext uri="{9D8B030D-6E8A-4147-A177-3AD203B41FA5}">
                          <a16:colId xmlns:a16="http://schemas.microsoft.com/office/drawing/2014/main" val="1532585633"/>
                        </a:ext>
                      </a:extLst>
                    </a:gridCol>
                    <a:gridCol w="1960271">
                      <a:extLst>
                        <a:ext uri="{9D8B030D-6E8A-4147-A177-3AD203B41FA5}">
                          <a16:colId xmlns:a16="http://schemas.microsoft.com/office/drawing/2014/main" val="1504081075"/>
                        </a:ext>
                      </a:extLst>
                    </a:gridCol>
                    <a:gridCol w="1960271">
                      <a:extLst>
                        <a:ext uri="{9D8B030D-6E8A-4147-A177-3AD203B41FA5}">
                          <a16:colId xmlns:a16="http://schemas.microsoft.com/office/drawing/2014/main" val="542561007"/>
                        </a:ext>
                      </a:extLst>
                    </a:gridCol>
                  </a:tblGrid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CNN Architecture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Best MAE (%)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RMSE (%)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355" t="-3571" r="-100000" b="-40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Correlation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0701744"/>
                      </a:ext>
                    </a:extLst>
                  </a:tr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 err="1"/>
                            <a:t>AlexNet</a:t>
                          </a:r>
                          <a:endParaRPr 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13.5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23.6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0.429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0.789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89696412"/>
                      </a:ext>
                    </a:extLst>
                  </a:tr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ResNet-18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11.3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21.9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0.505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0.792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8218710"/>
                      </a:ext>
                    </a:extLst>
                  </a:tr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ResNet-34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13.9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24.4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0.388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0.737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6316793"/>
                      </a:ext>
                    </a:extLst>
                  </a:tr>
                  <a:tr h="711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EfficientNet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21.7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0.514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0.796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62935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6267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57496-22A5-5E29-CCAB-2869E9F70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8E73-A7A4-9BBF-0565-9DFFA163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Tuning ResNet-18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98FE3-C89E-C032-7A0E-3C3BF1D4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11582399" cy="4953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Different ways I tried to improve the model: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Training Hyperparameter Tuning: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Batch size optimal at 32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Learning rate best at 1e-4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Weight Decay at 1e-4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Backbone not frozen during training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Data Augmentation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Color Jitter made very small improvement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Random scaling and translation made larger impact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Output layer dropout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Dropout = 0.2 was beneficial, 0.4 was too much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6EC22-5DA0-F48A-3AF9-DFF8C99B1F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939FB-2313-149B-A935-19581BD28065}"/>
              </a:ext>
            </a:extLst>
          </p:cNvPr>
          <p:cNvSpPr txBox="1"/>
          <p:nvPr/>
        </p:nvSpPr>
        <p:spPr>
          <a:xfrm>
            <a:off x="8059837" y="2099509"/>
            <a:ext cx="3086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n-lt"/>
              </a:rPr>
              <a:t>14.7% MAE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15690-B864-BDB1-9BF8-B77606221CD2}"/>
              </a:ext>
            </a:extLst>
          </p:cNvPr>
          <p:cNvSpPr txBox="1"/>
          <p:nvPr/>
        </p:nvSpPr>
        <p:spPr>
          <a:xfrm>
            <a:off x="8059836" y="4097754"/>
            <a:ext cx="3086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n-lt"/>
              </a:rPr>
              <a:t>11.3% MAE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C17B08-2835-13C2-2051-D60B1D8F9BF5}"/>
              </a:ext>
            </a:extLst>
          </p:cNvPr>
          <p:cNvCxnSpPr/>
          <p:nvPr/>
        </p:nvCxnSpPr>
        <p:spPr bwMode="auto">
          <a:xfrm>
            <a:off x="9587692" y="2873416"/>
            <a:ext cx="0" cy="89125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57139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5B96-4DB3-BA78-D65E-AEFD81588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9C4C-ECA6-6C4F-BC4F-BDF3968EB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Final Model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2B48A-8C5F-5A36-5B57-254278F60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5267092" cy="4953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Final Model: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ResNet-18 with Sequential Output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One feedforward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Dropout: 0.2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Epochs: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Learning Rate: 1e-4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Weight Decay: 1e-4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Validation Split: 0.2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A79B3-47F5-1875-DDB3-159BAA825D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51F46D1-925B-4D51-A1C3-153ECC1089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767895"/>
                  </p:ext>
                </p:extLst>
              </p:nvPr>
            </p:nvGraphicFramePr>
            <p:xfrm>
              <a:off x="6687068" y="1284042"/>
              <a:ext cx="4156928" cy="4289915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78464">
                      <a:extLst>
                        <a:ext uri="{9D8B030D-6E8A-4147-A177-3AD203B41FA5}">
                          <a16:colId xmlns:a16="http://schemas.microsoft.com/office/drawing/2014/main" val="1164108558"/>
                        </a:ext>
                      </a:extLst>
                    </a:gridCol>
                    <a:gridCol w="2078464">
                      <a:extLst>
                        <a:ext uri="{9D8B030D-6E8A-4147-A177-3AD203B41FA5}">
                          <a16:colId xmlns:a16="http://schemas.microsoft.com/office/drawing/2014/main" val="3849474255"/>
                        </a:ext>
                      </a:extLst>
                    </a:gridCol>
                  </a:tblGrid>
                  <a:tr h="857983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Performance Metric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7425352"/>
                      </a:ext>
                    </a:extLst>
                  </a:tr>
                  <a:tr h="8579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MAE (%)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2710568"/>
                      </a:ext>
                    </a:extLst>
                  </a:tr>
                  <a:tr h="8579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RMSE (%)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21.9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05833065"/>
                      </a:ext>
                    </a:extLst>
                  </a:tr>
                  <a:tr h="85798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0.505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8733381"/>
                      </a:ext>
                    </a:extLst>
                  </a:tr>
                  <a:tr h="8579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Correlation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0.792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172853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51F46D1-925B-4D51-A1C3-153ECC1089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767895"/>
                  </p:ext>
                </p:extLst>
              </p:nvPr>
            </p:nvGraphicFramePr>
            <p:xfrm>
              <a:off x="6687068" y="1284042"/>
              <a:ext cx="4156928" cy="4289915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78464">
                      <a:extLst>
                        <a:ext uri="{9D8B030D-6E8A-4147-A177-3AD203B41FA5}">
                          <a16:colId xmlns:a16="http://schemas.microsoft.com/office/drawing/2014/main" val="1164108558"/>
                        </a:ext>
                      </a:extLst>
                    </a:gridCol>
                    <a:gridCol w="2078464">
                      <a:extLst>
                        <a:ext uri="{9D8B030D-6E8A-4147-A177-3AD203B41FA5}">
                          <a16:colId xmlns:a16="http://schemas.microsoft.com/office/drawing/2014/main" val="3849474255"/>
                        </a:ext>
                      </a:extLst>
                    </a:gridCol>
                  </a:tblGrid>
                  <a:tr h="857983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Performance Metric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7425352"/>
                      </a:ext>
                    </a:extLst>
                  </a:tr>
                  <a:tr h="8579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MAE (%)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2710568"/>
                      </a:ext>
                    </a:extLst>
                  </a:tr>
                  <a:tr h="8579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RMSE (%)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21.9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05833065"/>
                      </a:ext>
                    </a:extLst>
                  </a:tr>
                  <a:tr h="8579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0" t="-304478" r="-101829" b="-1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0.505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8733381"/>
                      </a:ext>
                    </a:extLst>
                  </a:tr>
                  <a:tr h="8579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Correlation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0.792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172853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4365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36F5-05A6-5E30-8206-271BB6A1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AB51B-E4B7-3BA9-D679-0A711684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Final Model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2C49E-F321-3D3A-3AFF-E4E6D16E7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5267092" cy="4953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Target vs Predicted for ResNet-18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Shows very strong prediction for targets between 0.1 to 0.4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Very poor performance above 0.5 due to lack of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84078-CBBD-4F40-C7CE-0F081DA0A0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05ADFB-3315-9016-E0C7-9CC35C5D6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892" y="1289418"/>
            <a:ext cx="5814515" cy="46601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D9CC4F-90D9-0152-7E11-B24F747A1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63" y="3619499"/>
            <a:ext cx="4525367" cy="212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53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48066-A535-7E7E-260C-1A897D235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ABDA-2C44-A3D1-7C75-77C6C82D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6847"/>
            <a:ext cx="11582400" cy="685800"/>
          </a:xfrm>
        </p:spPr>
        <p:txBody>
          <a:bodyPr/>
          <a:lstStyle/>
          <a:p>
            <a:r>
              <a:rPr lang="en-US" dirty="0"/>
              <a:t>Conclusions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EF7DB-F647-610A-F4D8-52BA2BF19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11582399" cy="4953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ResNet-18 outperformed other tested networks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Hyperparameters tuned to optimize performance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Data augmentation improved generalization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Dropout improves generalization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Shortage of training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Model was bound to struggle with 50/50 train/test split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Need to account for data imbalance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Investigate dynamic CNN models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Leverage time series stream of images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FB61-5AD2-25E8-7000-3A39F8898D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50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1961-B918-FB67-DE42-6CF79B68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42C2D-9F14-FF4A-9215-20C25C323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He, K., Zhang, X., Ren, S., &amp; Sun, J. (2015). </a:t>
            </a:r>
            <a:r>
              <a:rPr lang="en-US" sz="1800" i="1" dirty="0"/>
              <a:t>Deep Residual Learning for Image Recognition</a:t>
            </a:r>
            <a:r>
              <a:rPr lang="en-US" sz="1800" dirty="0"/>
              <a:t> (arXiv:1512.03385). </a:t>
            </a:r>
            <a:r>
              <a:rPr lang="en-US" sz="1800" dirty="0" err="1"/>
              <a:t>arXiv</a:t>
            </a:r>
            <a:r>
              <a:rPr lang="en-US" sz="1800" dirty="0"/>
              <a:t>. </a:t>
            </a:r>
            <a:r>
              <a:rPr lang="en-US" sz="1800" dirty="0">
                <a:hlinkClick r:id="rId2"/>
              </a:rPr>
              <a:t>https://doi.org/10.48550/arXiv.1512.03385</a:t>
            </a:r>
            <a:endParaRPr lang="en-US" sz="1800" dirty="0"/>
          </a:p>
          <a:p>
            <a:r>
              <a:rPr lang="en-US" sz="1800" dirty="0"/>
              <a:t>Pandey, H., Li, C., Dunlap, C., &amp; Hu, H. (2025a). </a:t>
            </a:r>
            <a:r>
              <a:rPr lang="en-US" sz="1800" i="1" dirty="0"/>
              <a:t>Data from: Unveiling hysteresis of transient boiling: A multimodal perspective</a:t>
            </a:r>
            <a:r>
              <a:rPr lang="en-US" sz="1800" dirty="0"/>
              <a:t> [Dataset]. Dryad. </a:t>
            </a:r>
            <a:r>
              <a:rPr lang="en-US" sz="1800" dirty="0">
                <a:hlinkClick r:id="rId3"/>
              </a:rPr>
              <a:t>https://doi.org/10.5061/dryad.ksn02v7h2</a:t>
            </a:r>
            <a:endParaRPr lang="en-US" sz="1800" dirty="0"/>
          </a:p>
          <a:p>
            <a:r>
              <a:rPr lang="en-US" sz="1800" dirty="0"/>
              <a:t>Pandey, H., Li, C., Dunlap, C., &amp; Hu, H. (2025b). Unveiling hysteresis of transient boiling: A multimodal perspective. </a:t>
            </a:r>
            <a:r>
              <a:rPr lang="en-US" sz="1800" i="1" dirty="0"/>
              <a:t>Applied Thermal Engineering</a:t>
            </a:r>
            <a:r>
              <a:rPr lang="en-US" sz="1800" dirty="0"/>
              <a:t>, </a:t>
            </a:r>
            <a:r>
              <a:rPr lang="en-US" sz="1800" i="1" dirty="0"/>
              <a:t>262</a:t>
            </a:r>
            <a:r>
              <a:rPr lang="en-US" sz="1800" dirty="0"/>
              <a:t>, 125259. </a:t>
            </a:r>
            <a:r>
              <a:rPr lang="en-US" sz="1800" dirty="0">
                <a:hlinkClick r:id="rId4"/>
              </a:rPr>
              <a:t>https://doi.org/10.1016/j.applthermaleng.2024.125259</a:t>
            </a:r>
            <a:endParaRPr lang="en-US" sz="1800" dirty="0"/>
          </a:p>
          <a:p>
            <a:r>
              <a:rPr lang="en-US" sz="1800" dirty="0"/>
              <a:t>Paz, C., </a:t>
            </a:r>
            <a:r>
              <a:rPr lang="en-US" sz="1800" dirty="0" err="1"/>
              <a:t>Cabarcos</a:t>
            </a:r>
            <a:r>
              <a:rPr lang="en-US" sz="1800" dirty="0"/>
              <a:t>, A., </a:t>
            </a:r>
            <a:r>
              <a:rPr lang="en-US" sz="1800" dirty="0" err="1"/>
              <a:t>Concheiro</a:t>
            </a:r>
            <a:r>
              <a:rPr lang="en-US" sz="1800" dirty="0"/>
              <a:t>, M., &amp; Conde-</a:t>
            </a:r>
            <a:r>
              <a:rPr lang="en-US" sz="1800" dirty="0" err="1"/>
              <a:t>Fontenla</a:t>
            </a:r>
            <a:r>
              <a:rPr lang="en-US" sz="1800" dirty="0"/>
              <a:t>, M. (2025). Classification of boiling regimes, fluids, and heating surfaces through deep learning algorithms and image analysis. </a:t>
            </a:r>
            <a:r>
              <a:rPr lang="en-US" sz="1800" i="1" dirty="0"/>
              <a:t>International Journal of Heat and Mass Transfer</a:t>
            </a:r>
            <a:r>
              <a:rPr lang="en-US" sz="1800" dirty="0"/>
              <a:t>, </a:t>
            </a:r>
            <a:r>
              <a:rPr lang="en-US" sz="1800" i="1" dirty="0"/>
              <a:t>242</a:t>
            </a:r>
            <a:r>
              <a:rPr lang="en-US" sz="1800" dirty="0"/>
              <a:t>, 126829. </a:t>
            </a:r>
            <a:r>
              <a:rPr lang="en-US" sz="1800" dirty="0">
                <a:hlinkClick r:id="rId5"/>
              </a:rPr>
              <a:t>https://doi.org/10.1016/j.ijheatmasstransfer.2025.126829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AE196-EABF-ED87-511C-B148BF08A1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43D8D-CDCE-3950-D408-9F6A5ACFD5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CIBS 2X-XX QX Update</a:t>
            </a:r>
          </a:p>
        </p:txBody>
      </p:sp>
    </p:spTree>
    <p:extLst>
      <p:ext uri="{BB962C8B-B14F-4D97-AF65-F5344CB8AC3E}">
        <p14:creationId xmlns:p14="http://schemas.microsoft.com/office/powerpoint/2010/main" val="3952128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BD821-856F-063A-3975-8827CA3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BDCA-5C5E-28BB-4024-75A3CF775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5BCCF-FA65-4A39-A08E-3A00476076F3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435F6-9D08-109E-C41C-D5BADB134105}"/>
              </a:ext>
            </a:extLst>
          </p:cNvPr>
          <p:cNvSpPr txBox="1"/>
          <p:nvPr/>
        </p:nvSpPr>
        <p:spPr>
          <a:xfrm>
            <a:off x="2509120" y="3013501"/>
            <a:ext cx="7173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+mn-lt"/>
              </a:rPr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700753274"/>
      </p:ext>
    </p:extLst>
  </p:cSld>
  <p:clrMapOvr>
    <a:masterClrMapping/>
  </p:clrMapOvr>
</p:sld>
</file>

<file path=ppt/theme/theme1.xml><?xml version="1.0" encoding="utf-8"?>
<a:theme xmlns:a="http://schemas.openxmlformats.org/drawingml/2006/main" name="OSU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000000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Presentation Template">
      <a:majorFont>
        <a:latin typeface="Book Antiqu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1"/>
            </a:solidFill>
            <a:latin typeface="+mn-lt"/>
          </a:defRPr>
        </a:defPPr>
      </a:lstStyle>
    </a:txDef>
  </a:objectDefaults>
  <a:extraClrSchemeLst>
    <a:extraClrScheme>
      <a:clrScheme name="Presentation 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IBS_Widescreen.potx" id="{A66507FD-A6DE-4EA4-8AA1-7DCED506D598}" vid="{160AD2E5-874C-44CB-A0C4-5FF6AA17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BB7CA23B735F45A2B499DBA370FE7F" ma:contentTypeVersion="18" ma:contentTypeDescription="Create a new document." ma:contentTypeScope="" ma:versionID="d9fa9f60debb44dc12b51df8746d7316">
  <xsd:schema xmlns:xsd="http://www.w3.org/2001/XMLSchema" xmlns:xs="http://www.w3.org/2001/XMLSchema" xmlns:p="http://schemas.microsoft.com/office/2006/metadata/properties" xmlns:ns2="333fd162-369a-4850-8d7b-16aeaa794114" xmlns:ns3="e9c64277-c3a5-4396-983e-cd9617f0c3fb" targetNamespace="http://schemas.microsoft.com/office/2006/metadata/properties" ma:root="true" ma:fieldsID="8b68c1b854d5c3510a6630055f462714" ns2:_="" ns3:_="">
    <xsd:import namespace="333fd162-369a-4850-8d7b-16aeaa794114"/>
    <xsd:import namespace="e9c64277-c3a5-4396-983e-cd9617f0c3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OCR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fd162-369a-4850-8d7b-16aeaa7941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babce5ee-ca9a-4d2a-a8e0-de52926351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c64277-c3a5-4396-983e-cd9617f0c3f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ed49b1f-2ac7-41e5-8d02-1bb60dec2359}" ma:internalName="TaxCatchAll" ma:showField="CatchAllData" ma:web="e9c64277-c3a5-4396-983e-cd9617f0c3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3fd162-369a-4850-8d7b-16aeaa794114">
      <Terms xmlns="http://schemas.microsoft.com/office/infopath/2007/PartnerControls"/>
    </lcf76f155ced4ddcb4097134ff3c332f>
    <TaxCatchAll xmlns="e9c64277-c3a5-4396-983e-cd9617f0c3fb" xsi:nil="true"/>
  </documentManagement>
</p:properties>
</file>

<file path=customXml/itemProps1.xml><?xml version="1.0" encoding="utf-8"?>
<ds:datastoreItem xmlns:ds="http://schemas.openxmlformats.org/officeDocument/2006/customXml" ds:itemID="{DCC14C7A-F834-4C87-A811-F35FD775ECD5}">
  <ds:schemaRefs>
    <ds:schemaRef ds:uri="333fd162-369a-4850-8d7b-16aeaa794114"/>
    <ds:schemaRef ds:uri="e9c64277-c3a5-4396-983e-cd9617f0c3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2672A9-6D63-4DC6-B16B-93A1351EBE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1C01E1-15F4-4BED-B67D-E58FB8B5345A}">
  <ds:schemaRefs>
    <ds:schemaRef ds:uri="333fd162-369a-4850-8d7b-16aeaa794114"/>
    <ds:schemaRef ds:uri="e9c64277-c3a5-4396-983e-cd9617f0c3f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CIBS_Widescreen</Template>
  <TotalTime>4113</TotalTime>
  <Words>969</Words>
  <Application>Microsoft Macintosh PowerPoint</Application>
  <PresentationFormat>Widescreen</PresentationFormat>
  <Paragraphs>169</Paragraphs>
  <Slides>18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Book Antiqua</vt:lpstr>
      <vt:lpstr>Calibri</vt:lpstr>
      <vt:lpstr>Cambria Math</vt:lpstr>
      <vt:lpstr>Monotype Sorts</vt:lpstr>
      <vt:lpstr>OSU_theme</vt:lpstr>
      <vt:lpstr>CNN–based Prediction of Boiling Heat Transfer</vt:lpstr>
      <vt:lpstr>Introduction to Boiling</vt:lpstr>
      <vt:lpstr>Introduction to Boiling</vt:lpstr>
      <vt:lpstr>Introduction to Boiling</vt:lpstr>
      <vt:lpstr>Introduction to Boiling</vt:lpstr>
      <vt:lpstr>Target Metric for CNN</vt:lpstr>
      <vt:lpstr>About the dataset</vt:lpstr>
      <vt:lpstr>Data Processing</vt:lpstr>
      <vt:lpstr>Data Processing</vt:lpstr>
      <vt:lpstr>CNN Network Choice</vt:lpstr>
      <vt:lpstr>CNN Network Choice</vt:lpstr>
      <vt:lpstr>Testing different networks</vt:lpstr>
      <vt:lpstr>Tuning ResNet-18 Model</vt:lpstr>
      <vt:lpstr>Final Model and Results</vt:lpstr>
      <vt:lpstr>Final Model and Results</vt:lpstr>
      <vt:lpstr>Conclusions and Future Work</vt:lpstr>
      <vt:lpstr>References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Craig</dc:creator>
  <cp:lastModifiedBy>Trivedi, Yash</cp:lastModifiedBy>
  <cp:revision>10</cp:revision>
  <cp:lastPrinted>2026-04-28T04:45:16Z</cp:lastPrinted>
  <dcterms:created xsi:type="dcterms:W3CDTF">2020-12-15T15:46:54Z</dcterms:created>
  <dcterms:modified xsi:type="dcterms:W3CDTF">2026-04-28T15:56:56Z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0x01010016BB7CA23B735F45A2B499DBA370FE7F</vt:lpwstr>
  </property>
  <property fmtid="{D5CDD505-2E9C-101B-9397-08002B2CF9AE}" pid="3" name="MediaServiceImageTags">
    <vt:lpwstr/>
  </property>
</Properties>
</file>